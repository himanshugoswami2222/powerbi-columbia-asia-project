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2" r:id="rId1"/>
  </p:sldMasterIdLst>
  <p:sldIdLst>
    <p:sldId id="256" r:id="rId2"/>
    <p:sldId id="258" r:id="rId3"/>
    <p:sldId id="257" r:id="rId4"/>
    <p:sldId id="259" r:id="rId5"/>
    <p:sldId id="260" r:id="rId6"/>
    <p:sldId id="262" r:id="rId7"/>
    <p:sldId id="281" r:id="rId8"/>
    <p:sldId id="263" r:id="rId9"/>
    <p:sldId id="264" r:id="rId10"/>
    <p:sldId id="273" r:id="rId11"/>
    <p:sldId id="265" r:id="rId12"/>
    <p:sldId id="266" r:id="rId13"/>
    <p:sldId id="267" r:id="rId14"/>
    <p:sldId id="268" r:id="rId15"/>
    <p:sldId id="269" r:id="rId16"/>
    <p:sldId id="271" r:id="rId17"/>
    <p:sldId id="270" r:id="rId18"/>
    <p:sldId id="272" r:id="rId19"/>
    <p:sldId id="274" r:id="rId20"/>
    <p:sldId id="276" r:id="rId21"/>
    <p:sldId id="277" r:id="rId22"/>
    <p:sldId id="278"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30-Oct-25</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1913631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30-Oct-25</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96829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30-Oct-25</a:t>
            </a:fld>
            <a:endParaRPr lang="en-US" dirty="0"/>
          </a:p>
        </p:txBody>
      </p:sp>
    </p:spTree>
    <p:extLst>
      <p:ext uri="{BB962C8B-B14F-4D97-AF65-F5344CB8AC3E}">
        <p14:creationId xmlns:p14="http://schemas.microsoft.com/office/powerpoint/2010/main" val="2888084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30-Oct-25</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718171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30-Oct-25</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2790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30-Oct-25</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20703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30-Oct-25</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76719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30-Oct-25</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658353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30-Oct-25</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891103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30-Oct-25</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979348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30-Oct-25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053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30-Oct-25</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723572"/>
      </p:ext>
    </p:extLst>
  </p:cSld>
  <p:clrMap bg1="lt1" tx1="dk1" bg2="lt2" tx2="dk2" accent1="accent1" accent2="accent2" accent3="accent3" accent4="accent4" accent5="accent5" accent6="accent6" hlink="hlink" folHlink="folHlink"/>
  <p:sldLayoutIdLst>
    <p:sldLayoutId id="2147484087" r:id="rId1"/>
    <p:sldLayoutId id="2147484088" r:id="rId2"/>
    <p:sldLayoutId id="2147484089" r:id="rId3"/>
    <p:sldLayoutId id="2147484090" r:id="rId4"/>
    <p:sldLayoutId id="2147484091" r:id="rId5"/>
    <p:sldLayoutId id="2147484085" r:id="rId6"/>
    <p:sldLayoutId id="2147484081" r:id="rId7"/>
    <p:sldLayoutId id="2147484082" r:id="rId8"/>
    <p:sldLayoutId id="2147484083" r:id="rId9"/>
    <p:sldLayoutId id="2147484084" r:id="rId10"/>
    <p:sldLayoutId id="2147484086"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21">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23">
            <a:extLst>
              <a:ext uri="{FF2B5EF4-FFF2-40B4-BE49-F238E27FC236}">
                <a16:creationId xmlns:a16="http://schemas.microsoft.com/office/drawing/2014/main" id="{C87A50C4-1191-461A-9E09-C8057F2AF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035" y="0"/>
            <a:ext cx="2265453" cy="6858000"/>
          </a:xfrm>
          <a:custGeom>
            <a:avLst/>
            <a:gdLst>
              <a:gd name="connsiteX0" fmla="*/ 1117108 w 2265453"/>
              <a:gd name="connsiteY0" fmla="*/ 0 h 6858000"/>
              <a:gd name="connsiteX1" fmla="*/ 1099628 w 2265453"/>
              <a:gd name="connsiteY1" fmla="*/ 0 h 6858000"/>
              <a:gd name="connsiteX2" fmla="*/ 1175238 w 2265453"/>
              <a:gd name="connsiteY2" fmla="*/ 82371 h 6858000"/>
              <a:gd name="connsiteX3" fmla="*/ 2240276 w 2265453"/>
              <a:gd name="connsiteY3" fmla="*/ 3734791 h 6858000"/>
              <a:gd name="connsiteX4" fmla="*/ 274951 w 2265453"/>
              <a:gd name="connsiteY4" fmla="*/ 6634678 h 6858000"/>
              <a:gd name="connsiteX5" fmla="*/ 12802 w 2265453"/>
              <a:gd name="connsiteY5" fmla="*/ 6848127 h 6858000"/>
              <a:gd name="connsiteX6" fmla="*/ 0 w 2265453"/>
              <a:gd name="connsiteY6" fmla="*/ 6858000 h 6858000"/>
              <a:gd name="connsiteX7" fmla="*/ 19410 w 2265453"/>
              <a:gd name="connsiteY7" fmla="*/ 6858000 h 6858000"/>
              <a:gd name="connsiteX8" fmla="*/ 31082 w 2265453"/>
              <a:gd name="connsiteY8" fmla="*/ 6848998 h 6858000"/>
              <a:gd name="connsiteX9" fmla="*/ 293230 w 2265453"/>
              <a:gd name="connsiteY9" fmla="*/ 6635549 h 6858000"/>
              <a:gd name="connsiteX10" fmla="*/ 2258555 w 2265453"/>
              <a:gd name="connsiteY10" fmla="*/ 3735662 h 6858000"/>
              <a:gd name="connsiteX11" fmla="*/ 1193518 w 2265453"/>
              <a:gd name="connsiteY11" fmla="*/ 83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65453" h="6858000">
                <a:moveTo>
                  <a:pt x="1117108" y="0"/>
                </a:moveTo>
                <a:lnTo>
                  <a:pt x="1099628" y="0"/>
                </a:lnTo>
                <a:lnTo>
                  <a:pt x="1175238" y="82371"/>
                </a:lnTo>
                <a:cubicBezTo>
                  <a:pt x="1926546" y="957940"/>
                  <a:pt x="2303836" y="2277119"/>
                  <a:pt x="2240276" y="3734791"/>
                </a:cubicBezTo>
                <a:cubicBezTo>
                  <a:pt x="2176522" y="5196911"/>
                  <a:pt x="1237280" y="5841173"/>
                  <a:pt x="274951" y="6634678"/>
                </a:cubicBezTo>
                <a:cubicBezTo>
                  <a:pt x="187328" y="6706930"/>
                  <a:pt x="100126" y="6778421"/>
                  <a:pt x="12802" y="6848127"/>
                </a:cubicBezTo>
                <a:lnTo>
                  <a:pt x="0" y="6858000"/>
                </a:lnTo>
                <a:lnTo>
                  <a:pt x="19410" y="6858000"/>
                </a:lnTo>
                <a:lnTo>
                  <a:pt x="31082" y="6848998"/>
                </a:lnTo>
                <a:cubicBezTo>
                  <a:pt x="118405" y="6779292"/>
                  <a:pt x="205608" y="6707801"/>
                  <a:pt x="293230" y="6635549"/>
                </a:cubicBezTo>
                <a:cubicBezTo>
                  <a:pt x="1255560" y="5842045"/>
                  <a:pt x="2194802" y="5197782"/>
                  <a:pt x="2258555" y="3735662"/>
                </a:cubicBezTo>
                <a:cubicBezTo>
                  <a:pt x="2322115" y="2277991"/>
                  <a:pt x="1944825" y="958811"/>
                  <a:pt x="1193518" y="83243"/>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3" name="Freeform: Shape 25">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03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0" name="Freeform: Shape 29">
            <a:extLst>
              <a:ext uri="{FF2B5EF4-FFF2-40B4-BE49-F238E27FC236}">
                <a16:creationId xmlns:a16="http://schemas.microsoft.com/office/drawing/2014/main" id="{46934B3C-D73F-4CD0-95B1-0244D662D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3292"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TextBox 14">
            <a:extLst>
              <a:ext uri="{FF2B5EF4-FFF2-40B4-BE49-F238E27FC236}">
                <a16:creationId xmlns:a16="http://schemas.microsoft.com/office/drawing/2014/main" id="{BE089B9A-85DD-2990-4686-7DFDED13F9E1}"/>
              </a:ext>
            </a:extLst>
          </p:cNvPr>
          <p:cNvSpPr txBox="1"/>
          <p:nvPr/>
        </p:nvSpPr>
        <p:spPr>
          <a:xfrm>
            <a:off x="6494222" y="5465478"/>
            <a:ext cx="6340508" cy="829255"/>
          </a:xfrm>
          <a:prstGeom prst="rect">
            <a:avLst/>
          </a:prstGeom>
        </p:spPr>
        <p:txBody>
          <a:bodyPr vert="horz" lIns="109728" tIns="109728" rIns="109728" bIns="91440" rtlCol="0" anchor="b">
            <a:normAutofit/>
          </a:bodyPr>
          <a:lstStyle/>
          <a:p>
            <a:pPr marL="457200" indent="-457200" algn="ctr" defTabSz="914400">
              <a:lnSpc>
                <a:spcPct val="120000"/>
              </a:lnSpc>
              <a:spcBef>
                <a:spcPct val="0"/>
              </a:spcBef>
              <a:spcAft>
                <a:spcPts val="600"/>
              </a:spcAft>
              <a:buFontTx/>
              <a:buChar char="-"/>
            </a:pPr>
            <a:r>
              <a:rPr lang="en-US" sz="2800" b="1" spc="150" dirty="0">
                <a:solidFill>
                  <a:schemeClr val="tx1">
                    <a:lumMod val="85000"/>
                    <a:lumOff val="15000"/>
                  </a:schemeClr>
                </a:solidFill>
                <a:latin typeface="+mj-lt"/>
                <a:ea typeface="+mj-ea"/>
                <a:cs typeface="+mj-cs"/>
                <a:sym typeface="Alatsi"/>
              </a:rPr>
              <a:t>Himanshu Goswami</a:t>
            </a:r>
          </a:p>
          <a:p>
            <a:pPr algn="ctr" defTabSz="914400">
              <a:lnSpc>
                <a:spcPct val="120000"/>
              </a:lnSpc>
              <a:spcBef>
                <a:spcPct val="0"/>
              </a:spcBef>
              <a:spcAft>
                <a:spcPts val="600"/>
              </a:spcAft>
            </a:pPr>
            <a:endParaRPr lang="en-US" sz="2800" b="1" spc="150" dirty="0">
              <a:solidFill>
                <a:schemeClr val="tx1">
                  <a:lumMod val="85000"/>
                  <a:lumOff val="15000"/>
                </a:schemeClr>
              </a:solidFill>
              <a:latin typeface="+mj-lt"/>
              <a:ea typeface="+mj-ea"/>
              <a:cs typeface="+mj-cs"/>
              <a:sym typeface="Alatsi"/>
            </a:endParaRPr>
          </a:p>
        </p:txBody>
      </p:sp>
      <p:pic>
        <p:nvPicPr>
          <p:cNvPr id="4" name="Picture 3">
            <a:extLst>
              <a:ext uri="{FF2B5EF4-FFF2-40B4-BE49-F238E27FC236}">
                <a16:creationId xmlns:a16="http://schemas.microsoft.com/office/drawing/2014/main" id="{5526C259-CBE0-749C-63C4-EC83D81044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3064" y="1964644"/>
            <a:ext cx="8285870" cy="1802177"/>
          </a:xfrm>
          <a:prstGeom prst="rect">
            <a:avLst/>
          </a:prstGeom>
        </p:spPr>
      </p:pic>
      <p:sp>
        <p:nvSpPr>
          <p:cNvPr id="6" name="TextBox 14">
            <a:extLst>
              <a:ext uri="{FF2B5EF4-FFF2-40B4-BE49-F238E27FC236}">
                <a16:creationId xmlns:a16="http://schemas.microsoft.com/office/drawing/2014/main" id="{ED56E18A-7DC4-31AF-57F9-73E574A0DF80}"/>
              </a:ext>
            </a:extLst>
          </p:cNvPr>
          <p:cNvSpPr txBox="1"/>
          <p:nvPr/>
        </p:nvSpPr>
        <p:spPr>
          <a:xfrm>
            <a:off x="2714729" y="3429000"/>
            <a:ext cx="6762541" cy="829255"/>
          </a:xfrm>
          <a:prstGeom prst="rect">
            <a:avLst/>
          </a:prstGeom>
        </p:spPr>
        <p:txBody>
          <a:bodyPr vert="horz" lIns="109728" tIns="109728" rIns="109728" bIns="91440" rtlCol="0" anchor="b">
            <a:normAutofit/>
          </a:bodyPr>
          <a:lstStyle/>
          <a:p>
            <a:pPr algn="ctr" defTabSz="914400">
              <a:lnSpc>
                <a:spcPct val="120000"/>
              </a:lnSpc>
              <a:spcBef>
                <a:spcPct val="0"/>
              </a:spcBef>
              <a:spcAft>
                <a:spcPts val="600"/>
              </a:spcAft>
            </a:pPr>
            <a:r>
              <a:rPr lang="en-US" sz="2800" b="1" spc="150" dirty="0">
                <a:solidFill>
                  <a:schemeClr val="tx1">
                    <a:lumMod val="85000"/>
                    <a:lumOff val="15000"/>
                  </a:schemeClr>
                </a:solidFill>
                <a:latin typeface="+mj-lt"/>
                <a:ea typeface="+mj-ea"/>
                <a:cs typeface="+mj-cs"/>
                <a:sym typeface="Alatsi"/>
              </a:rPr>
              <a:t>Hospital Project</a:t>
            </a:r>
          </a:p>
        </p:txBody>
      </p:sp>
    </p:spTree>
    <p:extLst>
      <p:ext uri="{BB962C8B-B14F-4D97-AF65-F5344CB8AC3E}">
        <p14:creationId xmlns:p14="http://schemas.microsoft.com/office/powerpoint/2010/main" val="2034068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6" name="Rectangle 35">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7" name="Freeform: Shape 27">
            <a:extLst>
              <a:ext uri="{FF2B5EF4-FFF2-40B4-BE49-F238E27FC236}">
                <a16:creationId xmlns:a16="http://schemas.microsoft.com/office/drawing/2014/main" id="{1EC86DB4-572A-4F71-AF8A-2395B4CA7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56583" y="0"/>
            <a:ext cx="11435265" cy="6858000"/>
          </a:xfrm>
          <a:custGeom>
            <a:avLst/>
            <a:gdLst>
              <a:gd name="connsiteX0" fmla="*/ 9925983 w 11435265"/>
              <a:gd name="connsiteY0" fmla="*/ 6858000 h 6858000"/>
              <a:gd name="connsiteX1" fmla="*/ 0 w 11435265"/>
              <a:gd name="connsiteY1" fmla="*/ 6858000 h 6858000"/>
              <a:gd name="connsiteX2" fmla="*/ 0 w 11435265"/>
              <a:gd name="connsiteY2" fmla="*/ 0 h 6858000"/>
              <a:gd name="connsiteX3" fmla="*/ 996904 w 11435265"/>
              <a:gd name="connsiteY3" fmla="*/ 0 h 6858000"/>
              <a:gd name="connsiteX4" fmla="*/ 2426875 w 11435265"/>
              <a:gd name="connsiteY4" fmla="*/ 0 h 6858000"/>
              <a:gd name="connsiteX5" fmla="*/ 4014127 w 11435265"/>
              <a:gd name="connsiteY5" fmla="*/ 0 h 6858000"/>
              <a:gd name="connsiteX6" fmla="*/ 4359595 w 11435265"/>
              <a:gd name="connsiteY6" fmla="*/ 0 h 6858000"/>
              <a:gd name="connsiteX7" fmla="*/ 4647960 w 11435265"/>
              <a:gd name="connsiteY7" fmla="*/ 0 h 6858000"/>
              <a:gd name="connsiteX8" fmla="*/ 4691093 w 11435265"/>
              <a:gd name="connsiteY8" fmla="*/ 0 h 6858000"/>
              <a:gd name="connsiteX9" fmla="*/ 5558544 w 11435265"/>
              <a:gd name="connsiteY9" fmla="*/ 0 h 6858000"/>
              <a:gd name="connsiteX10" fmla="*/ 5570664 w 11435265"/>
              <a:gd name="connsiteY10" fmla="*/ 0 h 6858000"/>
              <a:gd name="connsiteX11" fmla="*/ 5695183 w 11435265"/>
              <a:gd name="connsiteY11" fmla="*/ 0 h 6858000"/>
              <a:gd name="connsiteX12" fmla="*/ 7177357 w 11435265"/>
              <a:gd name="connsiteY12" fmla="*/ 0 h 6858000"/>
              <a:gd name="connsiteX13" fmla="*/ 9824163 w 11435265"/>
              <a:gd name="connsiteY13" fmla="*/ 0 h 6858000"/>
              <a:gd name="connsiteX14" fmla="*/ 9846125 w 11435265"/>
              <a:gd name="connsiteY14" fmla="*/ 16892 h 6858000"/>
              <a:gd name="connsiteX15" fmla="*/ 11435265 w 11435265"/>
              <a:gd name="connsiteY15" fmla="*/ 4079318 h 6858000"/>
              <a:gd name="connsiteX16" fmla="*/ 10261404 w 11435265"/>
              <a:gd name="connsiteY16"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5265" h="6858000">
                <a:moveTo>
                  <a:pt x="9925983" y="6858000"/>
                </a:moveTo>
                <a:lnTo>
                  <a:pt x="0" y="6858000"/>
                </a:lnTo>
                <a:lnTo>
                  <a:pt x="0" y="0"/>
                </a:lnTo>
                <a:lnTo>
                  <a:pt x="996904" y="0"/>
                </a:lnTo>
                <a:lnTo>
                  <a:pt x="2426875" y="0"/>
                </a:lnTo>
                <a:lnTo>
                  <a:pt x="4014127" y="0"/>
                </a:lnTo>
                <a:lnTo>
                  <a:pt x="4359595" y="0"/>
                </a:lnTo>
                <a:lnTo>
                  <a:pt x="4647960" y="0"/>
                </a:lnTo>
                <a:lnTo>
                  <a:pt x="4691093" y="0"/>
                </a:lnTo>
                <a:lnTo>
                  <a:pt x="5558544" y="0"/>
                </a:lnTo>
                <a:lnTo>
                  <a:pt x="5570664" y="0"/>
                </a:lnTo>
                <a:lnTo>
                  <a:pt x="5695183" y="0"/>
                </a:lnTo>
                <a:lnTo>
                  <a:pt x="7177357" y="0"/>
                </a:lnTo>
                <a:lnTo>
                  <a:pt x="9824163" y="0"/>
                </a:lnTo>
                <a:lnTo>
                  <a:pt x="9846125" y="16892"/>
                </a:lnTo>
                <a:cubicBezTo>
                  <a:pt x="10865743" y="850004"/>
                  <a:pt x="11435265" y="2357705"/>
                  <a:pt x="11435265" y="4079318"/>
                </a:cubicBezTo>
                <a:cubicBezTo>
                  <a:pt x="11435265" y="5217633"/>
                  <a:pt x="10916694" y="5903717"/>
                  <a:pt x="10261404" y="654244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29">
            <a:extLst>
              <a:ext uri="{FF2B5EF4-FFF2-40B4-BE49-F238E27FC236}">
                <a16:creationId xmlns:a16="http://schemas.microsoft.com/office/drawing/2014/main" id="{71BA53A4-C4B7-4189-9FC1-6350B1AB5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41199" y="0"/>
            <a:ext cx="1518348" cy="6858000"/>
          </a:xfrm>
          <a:custGeom>
            <a:avLst/>
            <a:gdLst>
              <a:gd name="connsiteX0" fmla="*/ 19178 w 1518348"/>
              <a:gd name="connsiteY0" fmla="*/ 6858000 h 6858000"/>
              <a:gd name="connsiteX1" fmla="*/ 0 w 1518348"/>
              <a:gd name="connsiteY1" fmla="*/ 6858000 h 6858000"/>
              <a:gd name="connsiteX2" fmla="*/ 241394 w 1518348"/>
              <a:gd name="connsiteY2" fmla="*/ 6638611 h 6858000"/>
              <a:gd name="connsiteX3" fmla="*/ 1493356 w 1518348"/>
              <a:gd name="connsiteY3" fmla="*/ 4142424 h 6858000"/>
              <a:gd name="connsiteX4" fmla="*/ 282053 w 1518348"/>
              <a:gd name="connsiteY4" fmla="*/ 26474 h 6858000"/>
              <a:gd name="connsiteX5" fmla="*/ 256233 w 1518348"/>
              <a:gd name="connsiteY5" fmla="*/ 0 h 6858000"/>
              <a:gd name="connsiteX6" fmla="*/ 273463 w 1518348"/>
              <a:gd name="connsiteY6" fmla="*/ 0 h 6858000"/>
              <a:gd name="connsiteX7" fmla="*/ 300199 w 1518348"/>
              <a:gd name="connsiteY7" fmla="*/ 27414 h 6858000"/>
              <a:gd name="connsiteX8" fmla="*/ 1511501 w 1518348"/>
              <a:gd name="connsiteY8" fmla="*/ 4143362 h 6858000"/>
              <a:gd name="connsiteX9" fmla="*/ 259539 w 1518348"/>
              <a:gd name="connsiteY9" fmla="*/ 6639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48" h="6858000">
                <a:moveTo>
                  <a:pt x="19178" y="6858000"/>
                </a:moveTo>
                <a:lnTo>
                  <a:pt x="0" y="6858000"/>
                </a:lnTo>
                <a:lnTo>
                  <a:pt x="241394" y="6638611"/>
                </a:lnTo>
                <a:cubicBezTo>
                  <a:pt x="909582" y="6009084"/>
                  <a:pt x="1445892" y="5323498"/>
                  <a:pt x="1493356" y="4142424"/>
                </a:cubicBezTo>
                <a:cubicBezTo>
                  <a:pt x="1560655" y="2467784"/>
                  <a:pt x="1130049" y="962858"/>
                  <a:pt x="282053" y="26474"/>
                </a:cubicBezTo>
                <a:lnTo>
                  <a:pt x="256233" y="0"/>
                </a:lnTo>
                <a:lnTo>
                  <a:pt x="273463" y="0"/>
                </a:lnTo>
                <a:lnTo>
                  <a:pt x="300199" y="27414"/>
                </a:lnTo>
                <a:cubicBezTo>
                  <a:pt x="1148195" y="963796"/>
                  <a:pt x="1578800" y="2468723"/>
                  <a:pt x="1511501" y="4143362"/>
                </a:cubicBezTo>
                <a:cubicBezTo>
                  <a:pt x="1464037" y="5324436"/>
                  <a:pt x="927728" y="6010023"/>
                  <a:pt x="259539" y="6639549"/>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9" name="Freeform: Shape 31">
            <a:extLst>
              <a:ext uri="{FF2B5EF4-FFF2-40B4-BE49-F238E27FC236}">
                <a16:creationId xmlns:a16="http://schemas.microsoft.com/office/drawing/2014/main" id="{5558AD6E-B070-4640-AA07-87E208983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552928" y="0"/>
            <a:ext cx="1644534" cy="6858000"/>
          </a:xfrm>
          <a:custGeom>
            <a:avLst/>
            <a:gdLst>
              <a:gd name="connsiteX0" fmla="*/ 135252 w 1644534"/>
              <a:gd name="connsiteY0" fmla="*/ 6858000 h 6858000"/>
              <a:gd name="connsiteX1" fmla="*/ 101819 w 1644534"/>
              <a:gd name="connsiteY1" fmla="*/ 6858000 h 6858000"/>
              <a:gd name="connsiteX2" fmla="*/ 437240 w 1644534"/>
              <a:gd name="connsiteY2" fmla="*/ 6542447 h 6858000"/>
              <a:gd name="connsiteX3" fmla="*/ 1611101 w 1644534"/>
              <a:gd name="connsiteY3" fmla="*/ 4079318 h 6858000"/>
              <a:gd name="connsiteX4" fmla="*/ 21961 w 1644534"/>
              <a:gd name="connsiteY4" fmla="*/ 16892 h 6858000"/>
              <a:gd name="connsiteX5" fmla="*/ 0 w 1644534"/>
              <a:gd name="connsiteY5" fmla="*/ 0 h 6858000"/>
              <a:gd name="connsiteX6" fmla="*/ 33433 w 1644534"/>
              <a:gd name="connsiteY6" fmla="*/ 0 h 6858000"/>
              <a:gd name="connsiteX7" fmla="*/ 55394 w 1644534"/>
              <a:gd name="connsiteY7" fmla="*/ 16892 h 6858000"/>
              <a:gd name="connsiteX8" fmla="*/ 1644534 w 1644534"/>
              <a:gd name="connsiteY8" fmla="*/ 4079318 h 6858000"/>
              <a:gd name="connsiteX9" fmla="*/ 470673 w 1644534"/>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4534" h="6858000">
                <a:moveTo>
                  <a:pt x="135252" y="6858000"/>
                </a:moveTo>
                <a:lnTo>
                  <a:pt x="101819" y="6858000"/>
                </a:lnTo>
                <a:lnTo>
                  <a:pt x="437240" y="6542447"/>
                </a:lnTo>
                <a:cubicBezTo>
                  <a:pt x="1092531" y="5903717"/>
                  <a:pt x="1611101" y="5217633"/>
                  <a:pt x="1611101" y="4079318"/>
                </a:cubicBezTo>
                <a:cubicBezTo>
                  <a:pt x="1611101" y="2357705"/>
                  <a:pt x="1041580" y="850004"/>
                  <a:pt x="21961" y="16892"/>
                </a:cubicBezTo>
                <a:lnTo>
                  <a:pt x="0" y="0"/>
                </a:lnTo>
                <a:lnTo>
                  <a:pt x="33433" y="0"/>
                </a:lnTo>
                <a:lnTo>
                  <a:pt x="55394" y="16892"/>
                </a:lnTo>
                <a:cubicBezTo>
                  <a:pt x="1075012" y="850004"/>
                  <a:pt x="1644534" y="2357705"/>
                  <a:pt x="1644534" y="4079318"/>
                </a:cubicBezTo>
                <a:cubicBezTo>
                  <a:pt x="1644534" y="5217633"/>
                  <a:pt x="1125963" y="5903717"/>
                  <a:pt x="470673" y="654244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4" name="Freeform: Shape 33">
            <a:extLst>
              <a:ext uri="{FF2B5EF4-FFF2-40B4-BE49-F238E27FC236}">
                <a16:creationId xmlns:a16="http://schemas.microsoft.com/office/drawing/2014/main" id="{36ACFB69-D148-449E-AC5A-C55AA20A7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88858" y="0"/>
            <a:ext cx="1461546" cy="6858000"/>
          </a:xfrm>
          <a:custGeom>
            <a:avLst/>
            <a:gdLst>
              <a:gd name="connsiteX0" fmla="*/ 107940 w 1461546"/>
              <a:gd name="connsiteY0" fmla="*/ 6858000 h 6858000"/>
              <a:gd name="connsiteX1" fmla="*/ 91317 w 1461546"/>
              <a:gd name="connsiteY1" fmla="*/ 6858000 h 6858000"/>
              <a:gd name="connsiteX2" fmla="*/ 392141 w 1461546"/>
              <a:gd name="connsiteY2" fmla="*/ 6542447 h 6858000"/>
              <a:gd name="connsiteX3" fmla="*/ 1444924 w 1461546"/>
              <a:gd name="connsiteY3" fmla="*/ 4079318 h 6858000"/>
              <a:gd name="connsiteX4" fmla="*/ 19696 w 1461546"/>
              <a:gd name="connsiteY4" fmla="*/ 16892 h 6858000"/>
              <a:gd name="connsiteX5" fmla="*/ 0 w 1461546"/>
              <a:gd name="connsiteY5" fmla="*/ 0 h 6858000"/>
              <a:gd name="connsiteX6" fmla="*/ 16622 w 1461546"/>
              <a:gd name="connsiteY6" fmla="*/ 0 h 6858000"/>
              <a:gd name="connsiteX7" fmla="*/ 36319 w 1461546"/>
              <a:gd name="connsiteY7" fmla="*/ 16892 h 6858000"/>
              <a:gd name="connsiteX8" fmla="*/ 1461546 w 1461546"/>
              <a:gd name="connsiteY8" fmla="*/ 4079318 h 6858000"/>
              <a:gd name="connsiteX9" fmla="*/ 408763 w 1461546"/>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1546" h="6858000">
                <a:moveTo>
                  <a:pt x="107940" y="6858000"/>
                </a:moveTo>
                <a:lnTo>
                  <a:pt x="91317" y="6858000"/>
                </a:lnTo>
                <a:lnTo>
                  <a:pt x="392141" y="6542447"/>
                </a:lnTo>
                <a:cubicBezTo>
                  <a:pt x="979841" y="5903717"/>
                  <a:pt x="1444924" y="5217633"/>
                  <a:pt x="1444924" y="4079318"/>
                </a:cubicBezTo>
                <a:cubicBezTo>
                  <a:pt x="1444924" y="2357705"/>
                  <a:pt x="934146" y="850004"/>
                  <a:pt x="19696" y="16892"/>
                </a:cubicBezTo>
                <a:lnTo>
                  <a:pt x="0" y="0"/>
                </a:lnTo>
                <a:lnTo>
                  <a:pt x="16622" y="0"/>
                </a:lnTo>
                <a:lnTo>
                  <a:pt x="36319" y="16892"/>
                </a:lnTo>
                <a:cubicBezTo>
                  <a:pt x="950768" y="850004"/>
                  <a:pt x="1461546" y="2357705"/>
                  <a:pt x="1461546" y="4079318"/>
                </a:cubicBezTo>
                <a:cubicBezTo>
                  <a:pt x="1461546" y="5217633"/>
                  <a:pt x="996464" y="5903717"/>
                  <a:pt x="408763" y="654244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92389AB-BD33-AF9B-1456-9D9AA29091A2}"/>
              </a:ext>
            </a:extLst>
          </p:cNvPr>
          <p:cNvSpPr>
            <a:spLocks noGrp="1"/>
          </p:cNvSpPr>
          <p:nvPr>
            <p:ph type="title"/>
          </p:nvPr>
        </p:nvSpPr>
        <p:spPr>
          <a:xfrm>
            <a:off x="1920240" y="157419"/>
            <a:ext cx="8397987" cy="1345269"/>
          </a:xfrm>
        </p:spPr>
        <p:txBody>
          <a:bodyPr vert="horz" lIns="109728" tIns="109728" rIns="109728" bIns="91440" rtlCol="0" anchor="b">
            <a:normAutofit/>
          </a:bodyPr>
          <a:lstStyle/>
          <a:p>
            <a:r>
              <a:rPr lang="en-US" dirty="0"/>
              <a:t>Table of Contents</a:t>
            </a:r>
          </a:p>
        </p:txBody>
      </p:sp>
      <p:sp>
        <p:nvSpPr>
          <p:cNvPr id="15" name="TextBox 14">
            <a:extLst>
              <a:ext uri="{FF2B5EF4-FFF2-40B4-BE49-F238E27FC236}">
                <a16:creationId xmlns:a16="http://schemas.microsoft.com/office/drawing/2014/main" id="{5199D753-F9C2-95EA-00A2-EAE69B981F59}"/>
              </a:ext>
            </a:extLst>
          </p:cNvPr>
          <p:cNvSpPr txBox="1"/>
          <p:nvPr/>
        </p:nvSpPr>
        <p:spPr>
          <a:xfrm>
            <a:off x="2258155" y="1502688"/>
            <a:ext cx="8397987" cy="5355312"/>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About Columbia Asia Hospital</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Problem Statement</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Data Overview</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Database Schema</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Methodology</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Data Cleaning Process</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High Satisfaction Across All Ages</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Key Patient Trends</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General Practice Workload</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Patient Demographic Breakdown</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Wait Time Variation</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Profit Margin Consistency</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Patient Gender Distribution</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Revenue Drivers</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Discount Program Reach</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Appointment Fee Structure</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Dashboard</a:t>
            </a:r>
          </a:p>
          <a:p>
            <a:pPr marL="285750" indent="-285750" algn="just">
              <a:buFont typeface="Arial" panose="020B0604020202020204" pitchFamily="34" charset="0"/>
              <a:buChar char="•"/>
            </a:pPr>
            <a:r>
              <a:rPr lang="en-US" b="1" dirty="0">
                <a:solidFill>
                  <a:schemeClr val="tx1">
                    <a:lumMod val="75000"/>
                    <a:lumOff val="25000"/>
                  </a:schemeClr>
                </a:solidFill>
                <a:latin typeface="Oracle Sans" panose="020B0503020204020204" pitchFamily="34" charset="0"/>
                <a:cs typeface="Oracle Sans" panose="020B0503020204020204" pitchFamily="34" charset="0"/>
              </a:rPr>
              <a:t>Recommendation</a:t>
            </a:r>
          </a:p>
          <a:p>
            <a:pPr marL="285750" indent="-285750" algn="just">
              <a:buFont typeface="Arial" panose="020B0604020202020204" pitchFamily="34" charset="0"/>
              <a:buChar char="•"/>
            </a:pPr>
            <a:endParaRPr lang="en-US" b="1" dirty="0">
              <a:solidFill>
                <a:schemeClr val="tx1">
                  <a:lumMod val="75000"/>
                  <a:lumOff val="25000"/>
                </a:schemeClr>
              </a:solidFill>
              <a:latin typeface="Oracle Sans" panose="020B0503020204020204" pitchFamily="34" charset="0"/>
              <a:cs typeface="Oracle Sans" panose="020B0503020204020204" pitchFamily="34" charset="0"/>
            </a:endParaRPr>
          </a:p>
        </p:txBody>
      </p:sp>
    </p:spTree>
    <p:extLst>
      <p:ext uri="{BB962C8B-B14F-4D97-AF65-F5344CB8AC3E}">
        <p14:creationId xmlns:p14="http://schemas.microsoft.com/office/powerpoint/2010/main" val="923552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A1B938DE-DAFC-3980-AB1E-F1FCF015C40F}"/>
              </a:ext>
            </a:extLst>
          </p:cNvPr>
          <p:cNvSpPr>
            <a:spLocks noGrp="1"/>
          </p:cNvSpPr>
          <p:nvPr>
            <p:ph type="title"/>
          </p:nvPr>
        </p:nvSpPr>
        <p:spPr>
          <a:xfrm>
            <a:off x="2460246" y="364255"/>
            <a:ext cx="6857365" cy="1344612"/>
          </a:xfrm>
        </p:spPr>
        <p:txBody>
          <a:bodyPr anchor="b">
            <a:normAutofit/>
          </a:bodyPr>
          <a:lstStyle/>
          <a:p>
            <a:r>
              <a:rPr lang="en-US" sz="3000" dirty="0"/>
              <a:t>About Columbia Asia Hospital</a:t>
            </a:r>
          </a:p>
        </p:txBody>
      </p:sp>
      <p:sp>
        <p:nvSpPr>
          <p:cNvPr id="3" name="Content Placeholder 2">
            <a:extLst>
              <a:ext uri="{FF2B5EF4-FFF2-40B4-BE49-F238E27FC236}">
                <a16:creationId xmlns:a16="http://schemas.microsoft.com/office/drawing/2014/main" id="{1AC99A90-C3D7-22BC-B5CD-4457CA92B84F}"/>
              </a:ext>
            </a:extLst>
          </p:cNvPr>
          <p:cNvSpPr>
            <a:spLocks noGrp="1"/>
          </p:cNvSpPr>
          <p:nvPr>
            <p:ph idx="1"/>
          </p:nvPr>
        </p:nvSpPr>
        <p:spPr>
          <a:xfrm>
            <a:off x="1549986" y="1787525"/>
            <a:ext cx="8677886" cy="3651250"/>
          </a:xfrm>
        </p:spPr>
        <p:txBody>
          <a:bodyPr>
            <a:noAutofit/>
          </a:bodyPr>
          <a:lstStyle/>
          <a:p>
            <a:pPr algn="ctr">
              <a:lnSpc>
                <a:spcPct val="130000"/>
              </a:lnSpc>
            </a:pPr>
            <a:r>
              <a:rPr lang="en-US" sz="2000" dirty="0"/>
              <a:t>Headquartered in Kuala Lumpur, Malaysia, Columbia Asia is an international chain of private hospitals founded in 1996. The group primarily serves the Southeast Asian market and currently runs 22 medical facilities in Malaysia, Indonesia, and Vietnam. Its strategy involves developing mid-sized hospitals in residential zones to cater to the middle-income demographic. Core medical specializations include general surgery, orthopedics, trauma care, and internal medicine, alongside comprehensive support services such as intensive care, physiotherapy, and neonatal units.</a:t>
            </a:r>
          </a:p>
        </p:txBody>
      </p:sp>
    </p:spTree>
    <p:extLst>
      <p:ext uri="{BB962C8B-B14F-4D97-AF65-F5344CB8AC3E}">
        <p14:creationId xmlns:p14="http://schemas.microsoft.com/office/powerpoint/2010/main" val="992875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61054A0D-42DE-023B-74B2-4A49AEF4FF2B}"/>
              </a:ext>
            </a:extLst>
          </p:cNvPr>
          <p:cNvSpPr>
            <a:spLocks noGrp="1"/>
          </p:cNvSpPr>
          <p:nvPr>
            <p:ph type="title"/>
          </p:nvPr>
        </p:nvSpPr>
        <p:spPr>
          <a:xfrm>
            <a:off x="1920875" y="442913"/>
            <a:ext cx="6857365" cy="1344612"/>
          </a:xfrm>
        </p:spPr>
        <p:txBody>
          <a:bodyPr anchor="b">
            <a:normAutofit/>
          </a:bodyPr>
          <a:lstStyle/>
          <a:p>
            <a:pPr algn="ctr"/>
            <a:r>
              <a:rPr lang="en-US" dirty="0"/>
              <a:t>Problem Statement</a:t>
            </a:r>
          </a:p>
        </p:txBody>
      </p:sp>
      <p:sp>
        <p:nvSpPr>
          <p:cNvPr id="3" name="Content Placeholder 2">
            <a:extLst>
              <a:ext uri="{FF2B5EF4-FFF2-40B4-BE49-F238E27FC236}">
                <a16:creationId xmlns:a16="http://schemas.microsoft.com/office/drawing/2014/main" id="{CCAA2579-5550-A572-3BBD-D84641677681}"/>
              </a:ext>
            </a:extLst>
          </p:cNvPr>
          <p:cNvSpPr>
            <a:spLocks noGrp="1"/>
          </p:cNvSpPr>
          <p:nvPr>
            <p:ph idx="1"/>
          </p:nvPr>
        </p:nvSpPr>
        <p:spPr>
          <a:xfrm>
            <a:off x="1920875" y="2061779"/>
            <a:ext cx="6857365" cy="3651250"/>
          </a:xfrm>
        </p:spPr>
        <p:txBody>
          <a:bodyPr>
            <a:normAutofit/>
          </a:bodyPr>
          <a:lstStyle/>
          <a:p>
            <a:pPr algn="ctr"/>
            <a:r>
              <a:rPr lang="en-US" sz="2000" dirty="0"/>
              <a:t>This project will analyze revenue streams across the hospital, pinpoint opportunities for departmental workforce expansion, and develop recommendations for patient discount programs aimed at boosting both efficiency and patient contentment.</a:t>
            </a:r>
          </a:p>
        </p:txBody>
      </p:sp>
    </p:spTree>
    <p:extLst>
      <p:ext uri="{BB962C8B-B14F-4D97-AF65-F5344CB8AC3E}">
        <p14:creationId xmlns:p14="http://schemas.microsoft.com/office/powerpoint/2010/main" val="1166688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7" name="Group 16">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8"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AADC7D76-6183-D33B-B2AE-E03CCD8544AD}"/>
              </a:ext>
            </a:extLst>
          </p:cNvPr>
          <p:cNvSpPr>
            <a:spLocks noGrp="1"/>
          </p:cNvSpPr>
          <p:nvPr>
            <p:ph type="title"/>
          </p:nvPr>
        </p:nvSpPr>
        <p:spPr>
          <a:xfrm>
            <a:off x="1920875" y="442913"/>
            <a:ext cx="6857365" cy="1344612"/>
          </a:xfrm>
        </p:spPr>
        <p:txBody>
          <a:bodyPr anchor="b">
            <a:normAutofit/>
          </a:bodyPr>
          <a:lstStyle/>
          <a:p>
            <a:r>
              <a:rPr lang="en-US"/>
              <a:t>Data  Overview </a:t>
            </a:r>
          </a:p>
        </p:txBody>
      </p:sp>
      <p:sp>
        <p:nvSpPr>
          <p:cNvPr id="3" name="Content Placeholder 2">
            <a:extLst>
              <a:ext uri="{FF2B5EF4-FFF2-40B4-BE49-F238E27FC236}">
                <a16:creationId xmlns:a16="http://schemas.microsoft.com/office/drawing/2014/main" id="{3DB51396-B6A3-CC3B-718D-862453E69135}"/>
              </a:ext>
            </a:extLst>
          </p:cNvPr>
          <p:cNvSpPr>
            <a:spLocks noGrp="1"/>
          </p:cNvSpPr>
          <p:nvPr>
            <p:ph idx="1"/>
          </p:nvPr>
        </p:nvSpPr>
        <p:spPr>
          <a:xfrm>
            <a:off x="1713048" y="1930246"/>
            <a:ext cx="8391967" cy="2846567"/>
          </a:xfrm>
        </p:spPr>
        <p:txBody>
          <a:bodyPr>
            <a:noAutofit/>
          </a:bodyPr>
          <a:lstStyle/>
          <a:p>
            <a:pPr>
              <a:lnSpc>
                <a:spcPct val="130000"/>
              </a:lnSpc>
            </a:pPr>
            <a:r>
              <a:rPr lang="en-US" sz="1400" b="1" u="sng" dirty="0"/>
              <a:t>Patient Demographics</a:t>
            </a:r>
            <a:endParaRPr lang="en-US" sz="1400" u="sng" dirty="0"/>
          </a:p>
          <a:p>
            <a:pPr marL="285750" indent="-285750">
              <a:lnSpc>
                <a:spcPct val="130000"/>
              </a:lnSpc>
              <a:buFont typeface="Arial" panose="020B0604020202020204" pitchFamily="34" charset="0"/>
              <a:buChar char="•"/>
            </a:pPr>
            <a:r>
              <a:rPr lang="en-US" sz="1400" b="1" dirty="0"/>
              <a:t>Patient ID:</a:t>
            </a:r>
            <a:r>
              <a:rPr lang="en-US" sz="1400" dirty="0"/>
              <a:t> A unique alphanumeric identifier assigned to each patient (e.g., 124-62-3289).</a:t>
            </a:r>
          </a:p>
          <a:p>
            <a:pPr marL="285750" indent="-285750">
              <a:lnSpc>
                <a:spcPct val="130000"/>
              </a:lnSpc>
              <a:buFont typeface="Arial" panose="020B0604020202020204" pitchFamily="34" charset="0"/>
              <a:buChar char="•"/>
            </a:pPr>
            <a:r>
              <a:rPr lang="en-US" sz="1400" b="1" dirty="0"/>
              <a:t>Patient Gender:</a:t>
            </a:r>
            <a:r>
              <a:rPr lang="en-US" sz="1400" dirty="0"/>
              <a:t> The gender of the patient, denoted by 'M' for Male and 'F' for Female.</a:t>
            </a:r>
          </a:p>
          <a:p>
            <a:pPr marL="285750" indent="-285750">
              <a:lnSpc>
                <a:spcPct val="130000"/>
              </a:lnSpc>
              <a:buFont typeface="Arial" panose="020B0604020202020204" pitchFamily="34" charset="0"/>
              <a:buChar char="•"/>
            </a:pPr>
            <a:r>
              <a:rPr lang="en-US" sz="1400" b="1" dirty="0"/>
              <a:t>Patient Age:</a:t>
            </a:r>
            <a:r>
              <a:rPr lang="en-US" sz="1400" dirty="0"/>
              <a:t> The patient's age in complete years.</a:t>
            </a:r>
          </a:p>
          <a:p>
            <a:pPr marL="285750" indent="-285750">
              <a:lnSpc>
                <a:spcPct val="130000"/>
              </a:lnSpc>
              <a:buFont typeface="Arial" panose="020B0604020202020204" pitchFamily="34" charset="0"/>
              <a:buChar char="•"/>
            </a:pPr>
            <a:r>
              <a:rPr lang="en-US" sz="1400" b="1" dirty="0"/>
              <a:t>Patient Race:</a:t>
            </a:r>
            <a:r>
              <a:rPr lang="en-US" sz="1400" dirty="0"/>
              <a:t> The patient's self-identified racial or ethnic background (e.g., 'White', 'African American', 'Asian', 'Native American/Alaska Native', 'Two or More Races').</a:t>
            </a:r>
          </a:p>
          <a:p>
            <a:pPr marL="285750" indent="-285750">
              <a:lnSpc>
                <a:spcPct val="130000"/>
              </a:lnSpc>
              <a:buFont typeface="Arial" panose="020B0604020202020204" pitchFamily="34" charset="0"/>
              <a:buChar char="•"/>
            </a:pPr>
            <a:r>
              <a:rPr lang="en-US" sz="1400" b="1" dirty="0"/>
              <a:t>Patient First Initial:</a:t>
            </a:r>
            <a:r>
              <a:rPr lang="en-US" sz="1400" dirty="0"/>
              <a:t> The first letter of the patient's first name.</a:t>
            </a:r>
          </a:p>
          <a:p>
            <a:pPr marL="285750" indent="-285750">
              <a:lnSpc>
                <a:spcPct val="130000"/>
              </a:lnSpc>
              <a:buFont typeface="Arial" panose="020B0604020202020204" pitchFamily="34" charset="0"/>
              <a:buChar char="•"/>
            </a:pPr>
            <a:r>
              <a:rPr lang="en-US" sz="1400" b="1" dirty="0"/>
              <a:t>Patient Last Name:</a:t>
            </a:r>
            <a:r>
              <a:rPr lang="en-US" sz="1400" dirty="0"/>
              <a:t> The surname of the patient.</a:t>
            </a:r>
          </a:p>
        </p:txBody>
      </p:sp>
    </p:spTree>
    <p:extLst>
      <p:ext uri="{BB962C8B-B14F-4D97-AF65-F5344CB8AC3E}">
        <p14:creationId xmlns:p14="http://schemas.microsoft.com/office/powerpoint/2010/main" val="3567026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25" name="Group 24">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26" name="Freeform: Shape 25">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9351DCB2-6E2D-4D89-A91A-98F13141C0FE}"/>
              </a:ext>
            </a:extLst>
          </p:cNvPr>
          <p:cNvSpPr txBox="1">
            <a:spLocks/>
          </p:cNvSpPr>
          <p:nvPr/>
        </p:nvSpPr>
        <p:spPr>
          <a:xfrm>
            <a:off x="1085813" y="99175"/>
            <a:ext cx="8512360" cy="3651250"/>
          </a:xfrm>
          <a:prstGeom prst="rect">
            <a:avLst/>
          </a:prstGeom>
        </p:spPr>
        <p:txBody>
          <a:bodyPr vert="horz" lIns="109728" tIns="109728" rIns="109728" bIns="91440" rtlCol="0">
            <a:noAutofit/>
          </a:bodyPr>
          <a:lst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a:lnSpc>
                <a:spcPct val="130000"/>
              </a:lnSpc>
            </a:pPr>
            <a:r>
              <a:rPr lang="en-US" sz="1400" b="1" u="sng" dirty="0"/>
              <a:t>Visit &amp; Clinical Information</a:t>
            </a:r>
            <a:endParaRPr lang="en-US" sz="1400" u="sng" dirty="0"/>
          </a:p>
          <a:p>
            <a:pPr indent="-285750">
              <a:lnSpc>
                <a:spcPct val="130000"/>
              </a:lnSpc>
              <a:buFont typeface="Corbel" panose="020B0503020204020204" pitchFamily="34" charset="0"/>
              <a:buChar char="•"/>
            </a:pPr>
            <a:r>
              <a:rPr lang="en-US" sz="1400" b="1" dirty="0"/>
              <a:t>Date:</a:t>
            </a:r>
            <a:r>
              <a:rPr lang="en-US" sz="1400" dirty="0"/>
              <a:t> The date and time of the patient's appointment or admission, presented in DD-MM-YYYY HH:MM format.</a:t>
            </a:r>
          </a:p>
          <a:p>
            <a:pPr indent="-285750">
              <a:lnSpc>
                <a:spcPct val="130000"/>
              </a:lnSpc>
              <a:buFont typeface="Corbel" panose="020B0503020204020204" pitchFamily="34" charset="0"/>
              <a:buChar char="•"/>
            </a:pPr>
            <a:r>
              <a:rPr lang="en-US" sz="1400" b="1" dirty="0"/>
              <a:t>Patient Sat Score:</a:t>
            </a:r>
            <a:r>
              <a:rPr lang="en-US" sz="1400" dirty="0"/>
              <a:t> A single-digit numerical rating related to patient satisfaction. (Note: The scale of this score, e.g., 1-5 or 1-10, is not explicitly defined).</a:t>
            </a:r>
          </a:p>
          <a:p>
            <a:pPr indent="-285750">
              <a:lnSpc>
                <a:spcPct val="130000"/>
              </a:lnSpc>
              <a:buFont typeface="Corbel" panose="020B0503020204020204" pitchFamily="34" charset="0"/>
              <a:buChar char="•"/>
            </a:pPr>
            <a:r>
              <a:rPr lang="en-US" sz="1400" b="1" dirty="0"/>
              <a:t>Patient Admin Flag:</a:t>
            </a:r>
            <a:r>
              <a:rPr lang="en-US" sz="1400" dirty="0"/>
              <a:t> A </a:t>
            </a:r>
            <a:r>
              <a:rPr lang="en-US" sz="1400" dirty="0" err="1"/>
              <a:t>boolean</a:t>
            </a:r>
            <a:r>
              <a:rPr lang="en-US" sz="1400" dirty="0"/>
              <a:t> field (TRUE or FALSE) likely indicating an administrative status, such as whether the patient was admitted.</a:t>
            </a:r>
          </a:p>
          <a:p>
            <a:pPr indent="-285750">
              <a:lnSpc>
                <a:spcPct val="130000"/>
              </a:lnSpc>
              <a:buFont typeface="Corbel" panose="020B0503020204020204" pitchFamily="34" charset="0"/>
              <a:buChar char="•"/>
            </a:pPr>
            <a:r>
              <a:rPr lang="en-US" sz="1400" b="1" dirty="0"/>
              <a:t>Patient Wait Time:</a:t>
            </a:r>
            <a:r>
              <a:rPr lang="en-US" sz="1400" dirty="0"/>
              <a:t> The time, presumed to be in minutes, that the patient waited before being attended to.</a:t>
            </a:r>
          </a:p>
          <a:p>
            <a:pPr indent="-285750">
              <a:lnSpc>
                <a:spcPct val="130000"/>
              </a:lnSpc>
              <a:buFont typeface="Corbel" panose="020B0503020204020204" pitchFamily="34" charset="0"/>
              <a:buChar char="•"/>
            </a:pPr>
            <a:r>
              <a:rPr lang="en-US" sz="1400" b="1" dirty="0"/>
              <a:t>Department Referral:</a:t>
            </a:r>
            <a:r>
              <a:rPr lang="en-US" sz="1400" dirty="0"/>
              <a:t> The medical department to which the patient was referred (e.g., 'General Practice', '</a:t>
            </a:r>
            <a:r>
              <a:rPr lang="en-US" sz="1400" dirty="0" err="1"/>
              <a:t>Orthopaedics</a:t>
            </a:r>
            <a:r>
              <a:rPr lang="en-US" sz="1400" dirty="0"/>
              <a:t>', 'Gastroenterology'). A value of 'None' indicates no referral.</a:t>
            </a:r>
          </a:p>
          <a:p>
            <a:pPr indent="-285750">
              <a:lnSpc>
                <a:spcPct val="130000"/>
              </a:lnSpc>
              <a:buFont typeface="Corbel" panose="020B0503020204020204" pitchFamily="34" charset="0"/>
              <a:buChar char="•"/>
            </a:pPr>
            <a:r>
              <a:rPr lang="en-US" sz="1400" b="1" dirty="0"/>
              <a:t>Doctor Name:</a:t>
            </a:r>
            <a:r>
              <a:rPr lang="en-US" sz="1400" dirty="0"/>
              <a:t> The name of the physician or provider who handled the patient's case.</a:t>
            </a:r>
          </a:p>
          <a:p>
            <a:pPr>
              <a:lnSpc>
                <a:spcPct val="130000"/>
              </a:lnSpc>
            </a:pPr>
            <a:r>
              <a:rPr lang="en-US" sz="1400" b="1" u="sng" dirty="0"/>
              <a:t>Financial Data</a:t>
            </a:r>
            <a:endParaRPr lang="en-US" sz="1400" u="sng" dirty="0"/>
          </a:p>
          <a:p>
            <a:pPr indent="-285750">
              <a:lnSpc>
                <a:spcPct val="130000"/>
              </a:lnSpc>
              <a:buFont typeface="Corbel" panose="020B0503020204020204" pitchFamily="34" charset="0"/>
              <a:buChar char="•"/>
            </a:pPr>
            <a:r>
              <a:rPr lang="en-US" sz="1400" b="1" dirty="0"/>
              <a:t>Appointment Fees:</a:t>
            </a:r>
            <a:r>
              <a:rPr lang="en-US" sz="1400" dirty="0"/>
              <a:t> The fee charged for the doctor's consultation.</a:t>
            </a:r>
          </a:p>
          <a:p>
            <a:pPr indent="-285750">
              <a:lnSpc>
                <a:spcPct val="130000"/>
              </a:lnSpc>
              <a:buFont typeface="Corbel" panose="020B0503020204020204" pitchFamily="34" charset="0"/>
              <a:buChar char="•"/>
            </a:pPr>
            <a:r>
              <a:rPr lang="en-US" sz="1400" b="1" dirty="0"/>
              <a:t>Total Bill:</a:t>
            </a:r>
            <a:r>
              <a:rPr lang="en-US" sz="1400" dirty="0"/>
              <a:t> The complete financial charge for the patient's visit, including all services, fees, and procedures.</a:t>
            </a:r>
          </a:p>
          <a:p>
            <a:pPr>
              <a:lnSpc>
                <a:spcPct val="130000"/>
              </a:lnSpc>
            </a:pPr>
            <a:endParaRPr lang="en-US" sz="1400" dirty="0"/>
          </a:p>
        </p:txBody>
      </p:sp>
    </p:spTree>
    <p:extLst>
      <p:ext uri="{BB962C8B-B14F-4D97-AF65-F5344CB8AC3E}">
        <p14:creationId xmlns:p14="http://schemas.microsoft.com/office/powerpoint/2010/main" val="3293651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355405C-06EC-5D5F-E645-48332099C4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056C02-D8AF-9B89-2F65-EDBDA200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A814835F-21B0-110B-46AE-1089C4432C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A2C83F71-8BB1-3B32-5CB0-87380B928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FADE689-2514-21B3-BE65-65FDB7C92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C634592D-B6E5-0EAF-CEC8-DCCC1FDD83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0FF65200-B1AD-678F-1BAB-B1C710FC4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2A93E3F8-DD6B-10FC-DFCD-B83D81465527}"/>
              </a:ext>
            </a:extLst>
          </p:cNvPr>
          <p:cNvSpPr>
            <a:spLocks noGrp="1"/>
          </p:cNvSpPr>
          <p:nvPr>
            <p:ph type="title"/>
          </p:nvPr>
        </p:nvSpPr>
        <p:spPr>
          <a:xfrm>
            <a:off x="2381635" y="511422"/>
            <a:ext cx="6857365" cy="642013"/>
          </a:xfrm>
        </p:spPr>
        <p:txBody>
          <a:bodyPr anchor="b">
            <a:normAutofit fontScale="90000"/>
          </a:bodyPr>
          <a:lstStyle/>
          <a:p>
            <a:pPr algn="ctr"/>
            <a:r>
              <a:rPr lang="en-US" dirty="0"/>
              <a:t>Database Schema</a:t>
            </a:r>
          </a:p>
        </p:txBody>
      </p:sp>
      <p:pic>
        <p:nvPicPr>
          <p:cNvPr id="7" name="Picture 6">
            <a:extLst>
              <a:ext uri="{FF2B5EF4-FFF2-40B4-BE49-F238E27FC236}">
                <a16:creationId xmlns:a16="http://schemas.microsoft.com/office/drawing/2014/main" id="{F43117C0-4BD4-BC19-F174-2677D06E0725}"/>
              </a:ext>
            </a:extLst>
          </p:cNvPr>
          <p:cNvPicPr>
            <a:picLocks noChangeAspect="1"/>
          </p:cNvPicPr>
          <p:nvPr/>
        </p:nvPicPr>
        <p:blipFill>
          <a:blip r:embed="rId2"/>
          <a:stretch>
            <a:fillRect/>
          </a:stretch>
        </p:blipFill>
        <p:spPr>
          <a:xfrm>
            <a:off x="1766908" y="1293067"/>
            <a:ext cx="8658183" cy="4945155"/>
          </a:xfrm>
          <a:prstGeom prst="rect">
            <a:avLst/>
          </a:prstGeom>
        </p:spPr>
      </p:pic>
    </p:spTree>
    <p:extLst>
      <p:ext uri="{BB962C8B-B14F-4D97-AF65-F5344CB8AC3E}">
        <p14:creationId xmlns:p14="http://schemas.microsoft.com/office/powerpoint/2010/main" val="492907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2" name="Group 11">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3" name="Freeform: Shape 12">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4406AC7D-FD52-1FF0-D662-3515CB13B09D}"/>
              </a:ext>
            </a:extLst>
          </p:cNvPr>
          <p:cNvSpPr>
            <a:spLocks noGrp="1"/>
          </p:cNvSpPr>
          <p:nvPr>
            <p:ph type="title"/>
          </p:nvPr>
        </p:nvSpPr>
        <p:spPr>
          <a:xfrm>
            <a:off x="1920875" y="442913"/>
            <a:ext cx="6857365" cy="1344612"/>
          </a:xfrm>
        </p:spPr>
        <p:txBody>
          <a:bodyPr anchor="b">
            <a:normAutofit/>
          </a:bodyPr>
          <a:lstStyle/>
          <a:p>
            <a:r>
              <a:rPr lang="en-US" dirty="0">
                <a:latin typeface="Alatsi"/>
                <a:sym typeface="Alatsi"/>
              </a:rPr>
              <a:t>Methodology</a:t>
            </a:r>
            <a:endParaRPr lang="en-US" dirty="0"/>
          </a:p>
        </p:txBody>
      </p:sp>
      <p:sp>
        <p:nvSpPr>
          <p:cNvPr id="5" name="Content Placeholder 2">
            <a:extLst>
              <a:ext uri="{FF2B5EF4-FFF2-40B4-BE49-F238E27FC236}">
                <a16:creationId xmlns:a16="http://schemas.microsoft.com/office/drawing/2014/main" id="{C3D6558A-49C6-4F57-AE13-3E1BF567CBF6}"/>
              </a:ext>
            </a:extLst>
          </p:cNvPr>
          <p:cNvSpPr>
            <a:spLocks noGrp="1"/>
          </p:cNvSpPr>
          <p:nvPr>
            <p:ph idx="1"/>
          </p:nvPr>
        </p:nvSpPr>
        <p:spPr>
          <a:xfrm>
            <a:off x="1790496" y="1931151"/>
            <a:ext cx="6857365" cy="3651250"/>
          </a:xfrm>
        </p:spPr>
        <p:txBody>
          <a:bodyPr>
            <a:noAutofit/>
          </a:bodyPr>
          <a:lstStyle/>
          <a:p>
            <a:pPr marL="285750" indent="-285750">
              <a:lnSpc>
                <a:spcPct val="130000"/>
              </a:lnSpc>
              <a:buFont typeface="Arial" panose="020B0604020202020204" pitchFamily="34" charset="0"/>
              <a:buChar char="•"/>
            </a:pPr>
            <a:r>
              <a:rPr lang="en-US" sz="1400" b="1" dirty="0"/>
              <a:t>Data Preparation</a:t>
            </a:r>
            <a:r>
              <a:rPr lang="en-US" sz="1400" dirty="0"/>
              <a:t>: Executed data ingestion, cleaning, and transformation using Power Query to ensure data accuracy and model-readiness.</a:t>
            </a:r>
          </a:p>
          <a:p>
            <a:pPr marL="285750" indent="-285750">
              <a:lnSpc>
                <a:spcPct val="130000"/>
              </a:lnSpc>
              <a:buFont typeface="Arial" panose="020B0604020202020204" pitchFamily="34" charset="0"/>
              <a:buChar char="•"/>
            </a:pPr>
            <a:r>
              <a:rPr lang="en-US" sz="1400" b="1" dirty="0"/>
              <a:t>Data Modeling (DAX)</a:t>
            </a:r>
            <a:r>
              <a:rPr lang="en-US" sz="1400" dirty="0"/>
              <a:t>:</a:t>
            </a:r>
            <a:r>
              <a:rPr lang="en-US" sz="1400" b="1" dirty="0"/>
              <a:t> </a:t>
            </a:r>
            <a:r>
              <a:rPr lang="en-US" sz="1400" dirty="0"/>
              <a:t>Authored advanced DAX measures to create key performance indicators, using iterators (SUMX), time intelligence functions, and calculated columns for complex business logic.</a:t>
            </a:r>
          </a:p>
          <a:p>
            <a:pPr marL="285750" indent="-285750">
              <a:lnSpc>
                <a:spcPct val="130000"/>
              </a:lnSpc>
              <a:buFont typeface="Arial" panose="020B0604020202020204" pitchFamily="34" charset="0"/>
              <a:buChar char="•"/>
            </a:pPr>
            <a:r>
              <a:rPr lang="en-US" sz="1400" b="1" dirty="0"/>
              <a:t>Visualization</a:t>
            </a:r>
            <a:r>
              <a:rPr lang="en-US" sz="1400" dirty="0"/>
              <a:t>: Designed a variety of visuals (bar charts, column charts, cards, gauges, pie charts) to clearly communicate analytical insights.</a:t>
            </a:r>
          </a:p>
          <a:p>
            <a:pPr marL="285750" indent="-285750">
              <a:lnSpc>
                <a:spcPct val="130000"/>
              </a:lnSpc>
              <a:buFont typeface="Arial" panose="020B0604020202020204" pitchFamily="34" charset="0"/>
              <a:buChar char="•"/>
            </a:pPr>
            <a:r>
              <a:rPr lang="en-US" sz="1400" b="1" dirty="0"/>
              <a:t>Dashboarding</a:t>
            </a:r>
            <a:r>
              <a:rPr lang="en-US" sz="1400" dirty="0"/>
              <a:t>: Built a fully interactive dashboard by configuring slicers, drill-through filters, and visual interactions to provide a dynamic and comprehensive reporting experience.</a:t>
            </a:r>
          </a:p>
        </p:txBody>
      </p:sp>
    </p:spTree>
    <p:extLst>
      <p:ext uri="{BB962C8B-B14F-4D97-AF65-F5344CB8AC3E}">
        <p14:creationId xmlns:p14="http://schemas.microsoft.com/office/powerpoint/2010/main" val="1311416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45B78D9-81CD-0C92-151B-99CB813113F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2" name="Group 11">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21" name="Freeform: Shape 12">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14">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519F0C24-6711-CD7C-5CFA-C2695CD9201A}"/>
              </a:ext>
            </a:extLst>
          </p:cNvPr>
          <p:cNvSpPr>
            <a:spLocks noGrp="1"/>
          </p:cNvSpPr>
          <p:nvPr>
            <p:ph type="title"/>
          </p:nvPr>
        </p:nvSpPr>
        <p:spPr>
          <a:xfrm>
            <a:off x="1920875" y="442913"/>
            <a:ext cx="6857365" cy="1344612"/>
          </a:xfrm>
        </p:spPr>
        <p:txBody>
          <a:bodyPr anchor="b">
            <a:normAutofit/>
          </a:bodyPr>
          <a:lstStyle/>
          <a:p>
            <a:r>
              <a:rPr lang="en-US" dirty="0">
                <a:latin typeface="Alatsi"/>
                <a:sym typeface="Alatsi"/>
              </a:rPr>
              <a:t>Data Cleaning Process </a:t>
            </a:r>
          </a:p>
        </p:txBody>
      </p:sp>
      <p:sp>
        <p:nvSpPr>
          <p:cNvPr id="5" name="Content Placeholder 2">
            <a:extLst>
              <a:ext uri="{FF2B5EF4-FFF2-40B4-BE49-F238E27FC236}">
                <a16:creationId xmlns:a16="http://schemas.microsoft.com/office/drawing/2014/main" id="{509DE775-545D-D9A9-FA53-D95161E27EEA}"/>
              </a:ext>
            </a:extLst>
          </p:cNvPr>
          <p:cNvSpPr>
            <a:spLocks noGrp="1"/>
          </p:cNvSpPr>
          <p:nvPr>
            <p:ph idx="1"/>
          </p:nvPr>
        </p:nvSpPr>
        <p:spPr>
          <a:xfrm>
            <a:off x="1790496" y="1939362"/>
            <a:ext cx="6857365" cy="3651250"/>
          </a:xfrm>
        </p:spPr>
        <p:txBody>
          <a:bodyPr>
            <a:noAutofit/>
          </a:bodyPr>
          <a:lstStyle/>
          <a:p>
            <a:pPr marL="285750" indent="-285750">
              <a:lnSpc>
                <a:spcPct val="130000"/>
              </a:lnSpc>
              <a:buFont typeface="Arial" panose="020B0604020202020204" pitchFamily="34" charset="0"/>
              <a:buChar char="•"/>
            </a:pPr>
            <a:r>
              <a:rPr lang="en-US" sz="1400" b="1" dirty="0"/>
              <a:t>Addressed Null Values</a:t>
            </a:r>
            <a:r>
              <a:rPr lang="en-US" sz="1400" dirty="0"/>
              <a:t>: Filled missing Satisfaction Score entries with the mean to ensure analytical accuracy.</a:t>
            </a:r>
          </a:p>
          <a:p>
            <a:pPr marL="285750" indent="-285750">
              <a:lnSpc>
                <a:spcPct val="130000"/>
              </a:lnSpc>
              <a:buFont typeface="Arial" panose="020B0604020202020204" pitchFamily="34" charset="0"/>
              <a:buChar char="•"/>
            </a:pPr>
            <a:r>
              <a:rPr lang="en-US" sz="1400" b="1" dirty="0"/>
              <a:t>Created Time Dimension</a:t>
            </a:r>
            <a:r>
              <a:rPr lang="en-US" sz="1400" dirty="0"/>
              <a:t>: Built a Calendar Table from the date column and established a relationship model for time-based analysis.</a:t>
            </a:r>
          </a:p>
          <a:p>
            <a:pPr marL="285750" indent="-285750">
              <a:lnSpc>
                <a:spcPct val="130000"/>
              </a:lnSpc>
              <a:buFont typeface="Arial" panose="020B0604020202020204" pitchFamily="34" charset="0"/>
              <a:buChar char="•"/>
            </a:pPr>
            <a:r>
              <a:rPr lang="en-US" sz="1400" b="1" dirty="0"/>
              <a:t>Identified Data Gaps</a:t>
            </a:r>
            <a:r>
              <a:rPr lang="en-US" sz="1400" dirty="0"/>
              <a:t>: Checked for null values across the entire dataset to manage incomplete records.</a:t>
            </a:r>
          </a:p>
          <a:p>
            <a:pPr marL="285750" indent="-285750">
              <a:lnSpc>
                <a:spcPct val="130000"/>
              </a:lnSpc>
              <a:buFont typeface="Arial" panose="020B0604020202020204" pitchFamily="34" charset="0"/>
              <a:buChar char="•"/>
            </a:pPr>
            <a:r>
              <a:rPr lang="en-US" sz="1400" b="1" dirty="0"/>
              <a:t>Ensured Data Consistency</a:t>
            </a:r>
            <a:r>
              <a:rPr lang="en-US" sz="1400" dirty="0"/>
              <a:t>: Verified and corrected data types in all columns to prevent errors.</a:t>
            </a:r>
          </a:p>
          <a:p>
            <a:pPr marL="285750" indent="-285750">
              <a:lnSpc>
                <a:spcPct val="130000"/>
              </a:lnSpc>
              <a:buFont typeface="Arial" panose="020B0604020202020204" pitchFamily="34" charset="0"/>
              <a:buChar char="•"/>
            </a:pPr>
            <a:r>
              <a:rPr lang="en-US" sz="1400" b="1" dirty="0"/>
              <a:t>Executed Cleaning</a:t>
            </a:r>
            <a:r>
              <a:rPr lang="en-US" sz="1400" dirty="0"/>
              <a:t>: Performed all transformations in Power Query, then used 'Close &amp; Apply' to load the clean data.</a:t>
            </a:r>
          </a:p>
        </p:txBody>
      </p:sp>
    </p:spTree>
    <p:extLst>
      <p:ext uri="{BB962C8B-B14F-4D97-AF65-F5344CB8AC3E}">
        <p14:creationId xmlns:p14="http://schemas.microsoft.com/office/powerpoint/2010/main" val="278504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9398B31-64E4-8F40-E986-63DB4B604B5B}"/>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D7D75F1-23E8-38C4-17E7-C96DCC1EC0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6CD49E01-6B44-105E-4052-071CC1CB06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2B091ADA-7B7C-7277-B820-6C1B121A9CEF}"/>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High Satisfaction Across All Ages</a:t>
            </a:r>
          </a:p>
        </p:txBody>
      </p:sp>
      <p:grpSp>
        <p:nvGrpSpPr>
          <p:cNvPr id="15" name="Group 14">
            <a:extLst>
              <a:ext uri="{FF2B5EF4-FFF2-40B4-BE49-F238E27FC236}">
                <a16:creationId xmlns:a16="http://schemas.microsoft.com/office/drawing/2014/main" id="{170EFF89-3C73-79A1-4DDD-71B843BFF3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F87EF849-B4BA-EA65-E090-A03161B83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8481C513-5E01-CAD0-9C76-320557512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101FDA93-BE5E-E6CA-1993-8577A1678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361146EA-A6C1-A056-60F6-1975D497B040}"/>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A key finding is the remarkable consistency in satisfaction scores across all age groups.</a:t>
            </a:r>
          </a:p>
          <a:p>
            <a:pPr marL="285750" indent="-285750">
              <a:lnSpc>
                <a:spcPct val="130000"/>
              </a:lnSpc>
              <a:buFont typeface="Arial" panose="020B0604020202020204" pitchFamily="34" charset="0"/>
              <a:buChar char="•"/>
            </a:pPr>
            <a:r>
              <a:rPr lang="en-US" sz="1400" dirty="0"/>
              <a:t>All demographics report a high average score, hovering just around 5.0.</a:t>
            </a:r>
          </a:p>
          <a:p>
            <a:pPr marL="285750" indent="-285750">
              <a:lnSpc>
                <a:spcPct val="130000"/>
              </a:lnSpc>
              <a:buFont typeface="Arial" panose="020B0604020202020204" pitchFamily="34" charset="0"/>
              <a:buChar char="•"/>
            </a:pPr>
            <a:r>
              <a:rPr lang="en-US" sz="1400" dirty="0"/>
              <a:t>The total variation is minimal (only 0.09), ranging from 5.05 (Middle Age) to 4.96 (Senior Citizen &amp; Teenager).</a:t>
            </a:r>
          </a:p>
          <a:p>
            <a:pPr marL="285750" indent="-285750">
              <a:lnSpc>
                <a:spcPct val="130000"/>
              </a:lnSpc>
              <a:buFont typeface="Arial" panose="020B0604020202020204" pitchFamily="34" charset="0"/>
              <a:buChar char="•"/>
            </a:pPr>
            <a:r>
              <a:rPr lang="en-US" sz="1400" dirty="0"/>
              <a:t>This suggests a uniformly positive patient experience, regardless of age.</a:t>
            </a:r>
          </a:p>
        </p:txBody>
      </p:sp>
      <p:pic>
        <p:nvPicPr>
          <p:cNvPr id="6" name="Picture 5">
            <a:extLst>
              <a:ext uri="{FF2B5EF4-FFF2-40B4-BE49-F238E27FC236}">
                <a16:creationId xmlns:a16="http://schemas.microsoft.com/office/drawing/2014/main" id="{3921EDEC-731E-24BD-0092-0D5F9C5E11D6}"/>
              </a:ext>
            </a:extLst>
          </p:cNvPr>
          <p:cNvPicPr>
            <a:picLocks noChangeAspect="1"/>
          </p:cNvPicPr>
          <p:nvPr/>
        </p:nvPicPr>
        <p:blipFill>
          <a:blip r:embed="rId2"/>
          <a:stretch>
            <a:fillRect/>
          </a:stretch>
        </p:blipFill>
        <p:spPr>
          <a:xfrm>
            <a:off x="239106" y="1192535"/>
            <a:ext cx="5641263" cy="4191600"/>
          </a:xfrm>
          <a:prstGeom prst="rect">
            <a:avLst/>
          </a:prstGeom>
        </p:spPr>
      </p:pic>
    </p:spTree>
    <p:extLst>
      <p:ext uri="{BB962C8B-B14F-4D97-AF65-F5344CB8AC3E}">
        <p14:creationId xmlns:p14="http://schemas.microsoft.com/office/powerpoint/2010/main" val="667331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F7AC963D-E3AB-86F2-380E-89A3DECDC321}"/>
              </a:ext>
            </a:extLst>
          </p:cNvPr>
          <p:cNvSpPr>
            <a:spLocks noGrp="1"/>
          </p:cNvSpPr>
          <p:nvPr>
            <p:ph type="title"/>
          </p:nvPr>
        </p:nvSpPr>
        <p:spPr>
          <a:xfrm>
            <a:off x="6248736" y="277984"/>
            <a:ext cx="5197655" cy="1219691"/>
          </a:xfrm>
        </p:spPr>
        <p:txBody>
          <a:bodyPr vert="horz" lIns="109728" tIns="109728" rIns="109728" bIns="91440" rtlCol="0" anchor="b">
            <a:normAutofit/>
          </a:bodyPr>
          <a:lstStyle/>
          <a:p>
            <a:r>
              <a:rPr lang="en-US" dirty="0"/>
              <a:t>Key Patient Trends</a:t>
            </a:r>
          </a:p>
        </p:txBody>
      </p:sp>
      <p:grpSp>
        <p:nvGrpSpPr>
          <p:cNvPr id="15" name="Group 14">
            <a:extLst>
              <a:ext uri="{FF2B5EF4-FFF2-40B4-BE49-F238E27FC236}">
                <a16:creationId xmlns:a16="http://schemas.microsoft.com/office/drawing/2014/main" id="{57E5BCCD-DB23-4AD8-B850-9154AAE91E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1364655C-4AA5-F957-B236-4EA1E73E9E07}"/>
              </a:ext>
            </a:extLst>
          </p:cNvPr>
          <p:cNvSpPr>
            <a:spLocks noGrp="1"/>
          </p:cNvSpPr>
          <p:nvPr>
            <p:ph sz="half" idx="2"/>
          </p:nvPr>
        </p:nvSpPr>
        <p:spPr>
          <a:xfrm>
            <a:off x="6280173" y="1775659"/>
            <a:ext cx="5197655" cy="3651250"/>
          </a:xfrm>
        </p:spPr>
        <p:txBody>
          <a:bodyPr vert="horz" lIns="109728" tIns="109728" rIns="109728" bIns="91440" rtlCol="0">
            <a:normAutofit/>
          </a:bodyPr>
          <a:lstStyle/>
          <a:p>
            <a:pPr indent="-285750">
              <a:lnSpc>
                <a:spcPct val="130000"/>
              </a:lnSpc>
              <a:buFont typeface="Corbel" panose="020B0503020204020204" pitchFamily="34" charset="0"/>
              <a:buChar char="•"/>
            </a:pPr>
            <a:r>
              <a:rPr lang="en-US" sz="1400" b="1" dirty="0"/>
              <a:t>Peak &amp; Trough</a:t>
            </a:r>
            <a:r>
              <a:rPr lang="en-US" sz="1400" dirty="0"/>
              <a:t>: Patient visits peaked in August (1,024) and reached their lowest point in February (431).</a:t>
            </a:r>
          </a:p>
          <a:p>
            <a:pPr indent="-285750">
              <a:lnSpc>
                <a:spcPct val="130000"/>
              </a:lnSpc>
              <a:buFont typeface="Corbel" panose="020B0503020204020204" pitchFamily="34" charset="0"/>
              <a:buChar char="•"/>
            </a:pPr>
            <a:r>
              <a:rPr lang="en-US" sz="1400" b="1" dirty="0"/>
              <a:t>High Season</a:t>
            </a:r>
            <a:r>
              <a:rPr lang="en-US" sz="1400" dirty="0"/>
              <a:t>: A sustained period of high patient volume occurred from April through October.</a:t>
            </a:r>
          </a:p>
          <a:p>
            <a:pPr indent="-285750">
              <a:lnSpc>
                <a:spcPct val="130000"/>
              </a:lnSpc>
              <a:buFont typeface="Corbel" panose="020B0503020204020204" pitchFamily="34" charset="0"/>
              <a:buChar char="•"/>
            </a:pPr>
            <a:r>
              <a:rPr lang="en-US" sz="1400" b="1" dirty="0"/>
              <a:t>Low Season</a:t>
            </a:r>
            <a:r>
              <a:rPr lang="en-US" sz="1400" dirty="0"/>
              <a:t>: The start (Jan-Mar) and end (Nov-Dec) of the year both registered significantly lower patient numbers.</a:t>
            </a:r>
          </a:p>
          <a:p>
            <a:pPr indent="-285750">
              <a:lnSpc>
                <a:spcPct val="130000"/>
              </a:lnSpc>
              <a:buFont typeface="Corbel" panose="020B0503020204020204" pitchFamily="34" charset="0"/>
              <a:buChar char="•"/>
            </a:pPr>
            <a:r>
              <a:rPr lang="en-US" sz="1400" b="1" dirty="0"/>
              <a:t>Key Change</a:t>
            </a:r>
            <a:r>
              <a:rPr lang="en-US" sz="1400" dirty="0"/>
              <a:t>: A sharp decline in visits is visible after October.</a:t>
            </a:r>
          </a:p>
        </p:txBody>
      </p:sp>
      <p:pic>
        <p:nvPicPr>
          <p:cNvPr id="12" name="Picture 11">
            <a:extLst>
              <a:ext uri="{FF2B5EF4-FFF2-40B4-BE49-F238E27FC236}">
                <a16:creationId xmlns:a16="http://schemas.microsoft.com/office/drawing/2014/main" id="{EB3D2577-696E-0190-5EBF-8345DCB93774}"/>
              </a:ext>
            </a:extLst>
          </p:cNvPr>
          <p:cNvPicPr>
            <a:picLocks noChangeAspect="1"/>
          </p:cNvPicPr>
          <p:nvPr/>
        </p:nvPicPr>
        <p:blipFill>
          <a:blip r:embed="rId2"/>
          <a:stretch>
            <a:fillRect/>
          </a:stretch>
        </p:blipFill>
        <p:spPr>
          <a:xfrm>
            <a:off x="419051" y="1275613"/>
            <a:ext cx="5684054" cy="3972479"/>
          </a:xfrm>
          <a:prstGeom prst="rect">
            <a:avLst/>
          </a:prstGeom>
        </p:spPr>
      </p:pic>
    </p:spTree>
    <p:extLst>
      <p:ext uri="{BB962C8B-B14F-4D97-AF65-F5344CB8AC3E}">
        <p14:creationId xmlns:p14="http://schemas.microsoft.com/office/powerpoint/2010/main" val="3163179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79B72CA-769E-E60D-519A-FF9BBB6BD9BF}"/>
            </a:ext>
          </a:extLst>
        </p:cNvPr>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4" name="Rectangle 33">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5" name="Freeform: Shape 26">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6" name="Freeform: Shape 28">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7" name="Freeform: Shape 30">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F01AAC9-5699-CCF7-28E9-564F0376B161}"/>
              </a:ext>
            </a:extLst>
          </p:cNvPr>
          <p:cNvSpPr>
            <a:spLocks noGrp="1"/>
          </p:cNvSpPr>
          <p:nvPr>
            <p:ph type="title"/>
          </p:nvPr>
        </p:nvSpPr>
        <p:spPr>
          <a:xfrm>
            <a:off x="992518" y="442913"/>
            <a:ext cx="5103482" cy="1639888"/>
          </a:xfrm>
        </p:spPr>
        <p:txBody>
          <a:bodyPr vert="horz" lIns="109728" tIns="109728" rIns="109728" bIns="91440" rtlCol="0" anchor="b">
            <a:normAutofit/>
          </a:bodyPr>
          <a:lstStyle/>
          <a:p>
            <a:r>
              <a:rPr lang="en-US" dirty="0"/>
              <a:t>General Practice Workload</a:t>
            </a:r>
          </a:p>
        </p:txBody>
      </p:sp>
      <p:sp>
        <p:nvSpPr>
          <p:cNvPr id="4" name="Content Placeholder 3">
            <a:extLst>
              <a:ext uri="{FF2B5EF4-FFF2-40B4-BE49-F238E27FC236}">
                <a16:creationId xmlns:a16="http://schemas.microsoft.com/office/drawing/2014/main" id="{5FE44BA0-F6AC-F448-6EF3-8831EDE411A9}"/>
              </a:ext>
            </a:extLst>
          </p:cNvPr>
          <p:cNvSpPr>
            <a:spLocks noGrp="1"/>
          </p:cNvSpPr>
          <p:nvPr>
            <p:ph sz="half" idx="2"/>
          </p:nvPr>
        </p:nvSpPr>
        <p:spPr>
          <a:xfrm>
            <a:off x="992518" y="2312988"/>
            <a:ext cx="5368525" cy="3651250"/>
          </a:xfrm>
        </p:spPr>
        <p:txBody>
          <a:bodyPr vert="horz" lIns="109728" tIns="109728" rIns="109728" bIns="91440" rtlCol="0">
            <a:normAutofit/>
          </a:bodyPr>
          <a:lstStyle/>
          <a:p>
            <a:pPr indent="-285750">
              <a:lnSpc>
                <a:spcPct val="130000"/>
              </a:lnSpc>
              <a:buFont typeface="Corbel" panose="020B0503020204020204" pitchFamily="34" charset="0"/>
              <a:buChar char="•"/>
            </a:pPr>
            <a:r>
              <a:rPr lang="en-US" sz="1500" b="1" dirty="0"/>
              <a:t>Overwhelming Patient Volume</a:t>
            </a:r>
            <a:r>
              <a:rPr lang="en-US" sz="1500" dirty="0"/>
              <a:t>: The General Practice department handles the vast majority of patient visits, totaling 7,240.</a:t>
            </a:r>
          </a:p>
          <a:p>
            <a:pPr indent="-285750">
              <a:lnSpc>
                <a:spcPct val="130000"/>
              </a:lnSpc>
              <a:buFont typeface="Corbel" panose="020B0503020204020204" pitchFamily="34" charset="0"/>
              <a:buChar char="•"/>
            </a:pPr>
            <a:r>
              <a:rPr lang="en-US" sz="1500" b="1" dirty="0"/>
              <a:t>Significant Outlier</a:t>
            </a:r>
            <a:r>
              <a:rPr lang="en-US" sz="1500" dirty="0"/>
              <a:t>: This volume is more than 7x higher than the second-busiest department, Orthopedics (995 visits).</a:t>
            </a:r>
          </a:p>
          <a:p>
            <a:pPr indent="-285750">
              <a:lnSpc>
                <a:spcPct val="130000"/>
              </a:lnSpc>
              <a:buFont typeface="Corbel" panose="020B0503020204020204" pitchFamily="34" charset="0"/>
              <a:buChar char="•"/>
            </a:pPr>
            <a:r>
              <a:rPr lang="en-US" sz="1500" b="1" dirty="0"/>
              <a:t>Staffing Imbalance</a:t>
            </a:r>
            <a:r>
              <a:rPr lang="en-US" sz="1500" dirty="0"/>
              <a:t>: Despite managing the highest patient load, General Practice is staffed by only 3 doctors, indicating a severe potential workload imbalance.</a:t>
            </a:r>
          </a:p>
        </p:txBody>
      </p:sp>
      <p:pic>
        <p:nvPicPr>
          <p:cNvPr id="14" name="Picture 13">
            <a:extLst>
              <a:ext uri="{FF2B5EF4-FFF2-40B4-BE49-F238E27FC236}">
                <a16:creationId xmlns:a16="http://schemas.microsoft.com/office/drawing/2014/main" id="{4CEC03D4-F3EA-32CC-7BF8-B229523B4E71}"/>
              </a:ext>
            </a:extLst>
          </p:cNvPr>
          <p:cNvPicPr>
            <a:picLocks noChangeAspect="1"/>
          </p:cNvPicPr>
          <p:nvPr/>
        </p:nvPicPr>
        <p:blipFill>
          <a:blip r:embed="rId2"/>
          <a:stretch>
            <a:fillRect/>
          </a:stretch>
        </p:blipFill>
        <p:spPr>
          <a:xfrm>
            <a:off x="7240075" y="490170"/>
            <a:ext cx="4571315" cy="2601236"/>
          </a:xfrm>
          <a:prstGeom prst="rect">
            <a:avLst/>
          </a:prstGeom>
        </p:spPr>
      </p:pic>
      <p:pic>
        <p:nvPicPr>
          <p:cNvPr id="8" name="Picture 7">
            <a:extLst>
              <a:ext uri="{FF2B5EF4-FFF2-40B4-BE49-F238E27FC236}">
                <a16:creationId xmlns:a16="http://schemas.microsoft.com/office/drawing/2014/main" id="{A5C0050F-5AC1-41C0-CDD8-5EB00BCBFBD8}"/>
              </a:ext>
            </a:extLst>
          </p:cNvPr>
          <p:cNvPicPr>
            <a:picLocks noChangeAspect="1"/>
          </p:cNvPicPr>
          <p:nvPr/>
        </p:nvPicPr>
        <p:blipFill>
          <a:blip r:embed="rId3"/>
          <a:stretch>
            <a:fillRect/>
          </a:stretch>
        </p:blipFill>
        <p:spPr>
          <a:xfrm>
            <a:off x="7240075" y="3429000"/>
            <a:ext cx="4580728" cy="2941655"/>
          </a:xfrm>
          <a:prstGeom prst="rect">
            <a:avLst/>
          </a:prstGeom>
        </p:spPr>
      </p:pic>
    </p:spTree>
    <p:extLst>
      <p:ext uri="{BB962C8B-B14F-4D97-AF65-F5344CB8AC3E}">
        <p14:creationId xmlns:p14="http://schemas.microsoft.com/office/powerpoint/2010/main" val="2497586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9EEA18E-710B-CB3E-919B-0DF3A1649E30}"/>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F07A708-38F4-F4F3-0624-1D25968462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A2E8E392-721D-C5E5-B389-545C6FCF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1C7389BF-EB4A-6959-B3EC-6EE559DC220B}"/>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Patient Demographic Breakdown</a:t>
            </a:r>
          </a:p>
        </p:txBody>
      </p:sp>
      <p:grpSp>
        <p:nvGrpSpPr>
          <p:cNvPr id="15" name="Group 14">
            <a:extLst>
              <a:ext uri="{FF2B5EF4-FFF2-40B4-BE49-F238E27FC236}">
                <a16:creationId xmlns:a16="http://schemas.microsoft.com/office/drawing/2014/main" id="{2CC4D849-C315-EAC6-FBE9-E6924B4A21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81A1F29C-04E2-954C-07C2-1CF47F983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7083982-3E44-F066-C5DF-032388397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6A0AFB85-E58A-6FC9-4EA9-0A2F389F3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2D194EAD-EAEE-2236-8665-F45C6D6A489D}"/>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"White" patients account for 27.9% of the total patient base.</a:t>
            </a:r>
          </a:p>
          <a:p>
            <a:pPr marL="285750" indent="-285750">
              <a:lnSpc>
                <a:spcPct val="130000"/>
              </a:lnSpc>
              <a:buFont typeface="Arial" panose="020B0604020202020204" pitchFamily="34" charset="0"/>
              <a:buChar char="•"/>
            </a:pPr>
            <a:r>
              <a:rPr lang="en-US" sz="1400" dirty="0"/>
              <a:t>The majority of patients (approx. 72%) are from other racial and ethnic groups.</a:t>
            </a:r>
          </a:p>
          <a:p>
            <a:pPr marL="285750" indent="-285750">
              <a:lnSpc>
                <a:spcPct val="130000"/>
              </a:lnSpc>
              <a:buFont typeface="Arial" panose="020B0604020202020204" pitchFamily="34" charset="0"/>
              <a:buChar char="•"/>
            </a:pPr>
            <a:r>
              <a:rPr lang="en-US" sz="1400" dirty="0"/>
              <a:t>Top Groups:</a:t>
            </a:r>
          </a:p>
          <a:p>
            <a:pPr>
              <a:lnSpc>
                <a:spcPct val="130000"/>
              </a:lnSpc>
            </a:pPr>
            <a:r>
              <a:rPr lang="en-US" sz="1400" dirty="0"/>
              <a:t>	White: 27.9%</a:t>
            </a:r>
          </a:p>
          <a:p>
            <a:pPr>
              <a:lnSpc>
                <a:spcPct val="130000"/>
              </a:lnSpc>
            </a:pPr>
            <a:r>
              <a:rPr lang="en-US" sz="1400" dirty="0"/>
              <a:t>	African American: 21.17%</a:t>
            </a:r>
          </a:p>
          <a:p>
            <a:pPr>
              <a:lnSpc>
                <a:spcPct val="130000"/>
              </a:lnSpc>
            </a:pPr>
            <a:r>
              <a:rPr lang="en-US" sz="1400" dirty="0"/>
              <a:t>	Two or More Races: 16.89%</a:t>
            </a:r>
          </a:p>
          <a:p>
            <a:pPr marL="285750" indent="-285750">
              <a:lnSpc>
                <a:spcPct val="130000"/>
              </a:lnSpc>
              <a:buFont typeface="Arial" panose="020B0604020202020204" pitchFamily="34" charset="0"/>
              <a:buChar char="•"/>
            </a:pPr>
            <a:r>
              <a:rPr lang="en-US" sz="1400" dirty="0"/>
              <a:t>Smallest Group: "Native American/Alaska Native" at 5.4%.</a:t>
            </a:r>
          </a:p>
        </p:txBody>
      </p:sp>
      <p:pic>
        <p:nvPicPr>
          <p:cNvPr id="7" name="Picture 6">
            <a:extLst>
              <a:ext uri="{FF2B5EF4-FFF2-40B4-BE49-F238E27FC236}">
                <a16:creationId xmlns:a16="http://schemas.microsoft.com/office/drawing/2014/main" id="{25970F5E-0735-C233-743B-B973FE8D98B8}"/>
              </a:ext>
            </a:extLst>
          </p:cNvPr>
          <p:cNvPicPr>
            <a:picLocks noChangeAspect="1"/>
          </p:cNvPicPr>
          <p:nvPr/>
        </p:nvPicPr>
        <p:blipFill>
          <a:blip r:embed="rId2"/>
          <a:stretch>
            <a:fillRect/>
          </a:stretch>
        </p:blipFill>
        <p:spPr>
          <a:xfrm>
            <a:off x="419051" y="1528578"/>
            <a:ext cx="5505032" cy="3991532"/>
          </a:xfrm>
          <a:prstGeom prst="rect">
            <a:avLst/>
          </a:prstGeom>
        </p:spPr>
      </p:pic>
    </p:spTree>
    <p:extLst>
      <p:ext uri="{BB962C8B-B14F-4D97-AF65-F5344CB8AC3E}">
        <p14:creationId xmlns:p14="http://schemas.microsoft.com/office/powerpoint/2010/main" val="450391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8B78F8B-FB6A-77C1-878A-4698BD661EFF}"/>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26696569-F87F-640B-8BD6-81F196495A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6C93B253-06DD-5260-C93D-56BB08027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245AB03C-C1E1-A0A8-16F5-4A11D0618841}"/>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Wait Time Variation</a:t>
            </a:r>
          </a:p>
        </p:txBody>
      </p:sp>
      <p:grpSp>
        <p:nvGrpSpPr>
          <p:cNvPr id="15" name="Group 14">
            <a:extLst>
              <a:ext uri="{FF2B5EF4-FFF2-40B4-BE49-F238E27FC236}">
                <a16:creationId xmlns:a16="http://schemas.microsoft.com/office/drawing/2014/main" id="{29889C22-B469-0729-AA5B-B9A744FA8A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40568CE6-D795-B000-69D1-F5264109E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4474C095-29E4-67F2-B77E-1F003850A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1CF4E5A9-C77D-0FC2-8597-4620A2FA06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FCD4AB86-1113-8383-AA82-AA1930997AC9}"/>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The Neurology department recorded the longest average wait time at 36.8 minutes.</a:t>
            </a:r>
          </a:p>
          <a:p>
            <a:pPr marL="285750" indent="-285750">
              <a:lnSpc>
                <a:spcPct val="130000"/>
              </a:lnSpc>
              <a:buFont typeface="Arial" panose="020B0604020202020204" pitchFamily="34" charset="0"/>
              <a:buChar char="•"/>
            </a:pPr>
            <a:r>
              <a:rPr lang="en-US" sz="1400" dirty="0"/>
              <a:t>Conversely, the Renal department had the shortest average wait at 34.7 minutes.</a:t>
            </a:r>
          </a:p>
          <a:p>
            <a:pPr marL="285750" indent="-285750">
              <a:lnSpc>
                <a:spcPct val="130000"/>
              </a:lnSpc>
              <a:buFont typeface="Arial" panose="020B0604020202020204" pitchFamily="34" charset="0"/>
              <a:buChar char="•"/>
            </a:pPr>
            <a:r>
              <a:rPr lang="en-US" sz="1400" dirty="0"/>
              <a:t>This demonstrates high stability, as all departments operate within a very narrow 2.1-minute range.</a:t>
            </a:r>
          </a:p>
        </p:txBody>
      </p:sp>
      <p:pic>
        <p:nvPicPr>
          <p:cNvPr id="5" name="Picture 4">
            <a:extLst>
              <a:ext uri="{FF2B5EF4-FFF2-40B4-BE49-F238E27FC236}">
                <a16:creationId xmlns:a16="http://schemas.microsoft.com/office/drawing/2014/main" id="{D572FDA9-9966-29A5-4CA9-AE7B7A2E5647}"/>
              </a:ext>
            </a:extLst>
          </p:cNvPr>
          <p:cNvPicPr>
            <a:picLocks noChangeAspect="1"/>
          </p:cNvPicPr>
          <p:nvPr/>
        </p:nvPicPr>
        <p:blipFill>
          <a:blip r:embed="rId2"/>
          <a:stretch>
            <a:fillRect/>
          </a:stretch>
        </p:blipFill>
        <p:spPr>
          <a:xfrm>
            <a:off x="213874" y="1950488"/>
            <a:ext cx="5882126" cy="3676650"/>
          </a:xfrm>
          <a:prstGeom prst="rect">
            <a:avLst/>
          </a:prstGeom>
        </p:spPr>
      </p:pic>
    </p:spTree>
    <p:extLst>
      <p:ext uri="{BB962C8B-B14F-4D97-AF65-F5344CB8AC3E}">
        <p14:creationId xmlns:p14="http://schemas.microsoft.com/office/powerpoint/2010/main" val="3793375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B15F766-E6FA-8039-E533-4AB3B4D33026}"/>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C6785D6-6B36-7496-561D-7CFFAFF3DB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758E7EFF-71DA-7FC3-47CD-3ED27F9C40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3CB5DD2D-1437-22C8-EE8A-19BD14580C7E}"/>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Profit Margin Consistency</a:t>
            </a:r>
          </a:p>
        </p:txBody>
      </p:sp>
      <p:grpSp>
        <p:nvGrpSpPr>
          <p:cNvPr id="15" name="Group 14">
            <a:extLst>
              <a:ext uri="{FF2B5EF4-FFF2-40B4-BE49-F238E27FC236}">
                <a16:creationId xmlns:a16="http://schemas.microsoft.com/office/drawing/2014/main" id="{7676A600-5700-77A1-190F-B3A14F37C9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7BE4D0DB-D545-3494-0F40-15D18FDBC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8592EC7D-2385-D93E-70D1-1BCCF6DED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AD4933CC-EF37-DD5C-CA48-B39D2545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CC9DE1B9-2856-BF29-0681-1D127C2CCF20}"/>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A key financial finding is the hospital's high and stable profit margin.</a:t>
            </a:r>
          </a:p>
          <a:p>
            <a:pPr marL="285750" indent="-285750">
              <a:lnSpc>
                <a:spcPct val="130000"/>
              </a:lnSpc>
              <a:buFont typeface="Arial" panose="020B0604020202020204" pitchFamily="34" charset="0"/>
              <a:buChar char="•"/>
            </a:pPr>
            <a:r>
              <a:rPr lang="en-US" sz="1400" dirty="0"/>
              <a:t>The data shows very little monthly variation, with profit percentages consistently hovering just under 99%.</a:t>
            </a:r>
          </a:p>
          <a:p>
            <a:pPr marL="285750" indent="-285750">
              <a:lnSpc>
                <a:spcPct val="130000"/>
              </a:lnSpc>
              <a:buFont typeface="Arial" panose="020B0604020202020204" pitchFamily="34" charset="0"/>
              <a:buChar char="•"/>
            </a:pPr>
            <a:r>
              <a:rPr lang="en-US" sz="1400" dirty="0"/>
              <a:t>This indicates that costs (as represented in the data) are extremely low relative to total revenue, confirming high profitability.</a:t>
            </a:r>
          </a:p>
        </p:txBody>
      </p:sp>
      <p:pic>
        <p:nvPicPr>
          <p:cNvPr id="6" name="Picture 5">
            <a:extLst>
              <a:ext uri="{FF2B5EF4-FFF2-40B4-BE49-F238E27FC236}">
                <a16:creationId xmlns:a16="http://schemas.microsoft.com/office/drawing/2014/main" id="{A78C56E1-9C3D-3D19-7864-3BA024FC89B8}"/>
              </a:ext>
            </a:extLst>
          </p:cNvPr>
          <p:cNvPicPr>
            <a:picLocks noChangeAspect="1"/>
          </p:cNvPicPr>
          <p:nvPr/>
        </p:nvPicPr>
        <p:blipFill>
          <a:blip r:embed="rId2"/>
          <a:stretch>
            <a:fillRect/>
          </a:stretch>
        </p:blipFill>
        <p:spPr>
          <a:xfrm>
            <a:off x="247172" y="1576129"/>
            <a:ext cx="5578212" cy="3705742"/>
          </a:xfrm>
          <a:prstGeom prst="rect">
            <a:avLst/>
          </a:prstGeom>
        </p:spPr>
      </p:pic>
    </p:spTree>
    <p:extLst>
      <p:ext uri="{BB962C8B-B14F-4D97-AF65-F5344CB8AC3E}">
        <p14:creationId xmlns:p14="http://schemas.microsoft.com/office/powerpoint/2010/main" val="3752574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1421647-FC88-18A3-458F-5DAFE15466BD}"/>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1069024-9E44-EE87-614B-DEC8EB38B9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A69215F1-7A87-AD3C-BF53-29997D71B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DE628AE4-8EF2-D69B-66BF-6E52516B6029}"/>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Patient Gender Distribution</a:t>
            </a:r>
          </a:p>
        </p:txBody>
      </p:sp>
      <p:grpSp>
        <p:nvGrpSpPr>
          <p:cNvPr id="15" name="Group 14">
            <a:extLst>
              <a:ext uri="{FF2B5EF4-FFF2-40B4-BE49-F238E27FC236}">
                <a16:creationId xmlns:a16="http://schemas.microsoft.com/office/drawing/2014/main" id="{7B894B9B-E98B-1201-D874-07644DA20E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A6B09219-EE93-5517-B378-BC4D15713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4D50535F-969A-6158-FCF2-6404D7ADD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C9AA0D4D-9681-40F5-C098-3876D1E2F0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0A4D55AA-D965-958A-E192-D58BD31F5422}"/>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The patient population is almost evenly split between genders.</a:t>
            </a:r>
          </a:p>
          <a:p>
            <a:pPr marL="285750" indent="-285750">
              <a:lnSpc>
                <a:spcPct val="130000"/>
              </a:lnSpc>
              <a:buFont typeface="Arial" panose="020B0604020202020204" pitchFamily="34" charset="0"/>
              <a:buChar char="•"/>
            </a:pPr>
            <a:r>
              <a:rPr lang="en-US" sz="1400" dirty="0"/>
              <a:t>Males represent a slight majority at 51.05% (4.71K patients).</a:t>
            </a:r>
          </a:p>
          <a:p>
            <a:pPr marL="285750" indent="-285750">
              <a:lnSpc>
                <a:spcPct val="130000"/>
              </a:lnSpc>
              <a:buFont typeface="Arial" panose="020B0604020202020204" pitchFamily="34" charset="0"/>
              <a:buChar char="•"/>
            </a:pPr>
            <a:r>
              <a:rPr lang="en-US" sz="1400" dirty="0"/>
              <a:t>Females make up the remaining 48.69% (4.49K patients).</a:t>
            </a:r>
          </a:p>
        </p:txBody>
      </p:sp>
      <p:pic>
        <p:nvPicPr>
          <p:cNvPr id="6" name="Picture 5">
            <a:extLst>
              <a:ext uri="{FF2B5EF4-FFF2-40B4-BE49-F238E27FC236}">
                <a16:creationId xmlns:a16="http://schemas.microsoft.com/office/drawing/2014/main" id="{C2992238-D705-10A2-65F1-B307C4BB3C87}"/>
              </a:ext>
            </a:extLst>
          </p:cNvPr>
          <p:cNvPicPr>
            <a:picLocks noChangeAspect="1"/>
          </p:cNvPicPr>
          <p:nvPr/>
        </p:nvPicPr>
        <p:blipFill>
          <a:blip r:embed="rId2"/>
          <a:stretch>
            <a:fillRect/>
          </a:stretch>
        </p:blipFill>
        <p:spPr>
          <a:xfrm>
            <a:off x="349853" y="1694556"/>
            <a:ext cx="5372850" cy="3810532"/>
          </a:xfrm>
          <a:prstGeom prst="rect">
            <a:avLst/>
          </a:prstGeom>
        </p:spPr>
      </p:pic>
    </p:spTree>
    <p:extLst>
      <p:ext uri="{BB962C8B-B14F-4D97-AF65-F5344CB8AC3E}">
        <p14:creationId xmlns:p14="http://schemas.microsoft.com/office/powerpoint/2010/main" val="2297646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F3A5596-5A24-309F-22B7-387DA8EB4CEA}"/>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4B6089A-B32E-4A62-284B-83C48ECE10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5F9BBA32-DD70-4829-6A3A-85B043A0D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F0299676-C1BD-A200-28B5-4AD930F3E010}"/>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Revenue Drivers</a:t>
            </a:r>
          </a:p>
        </p:txBody>
      </p:sp>
      <p:grpSp>
        <p:nvGrpSpPr>
          <p:cNvPr id="15" name="Group 14">
            <a:extLst>
              <a:ext uri="{FF2B5EF4-FFF2-40B4-BE49-F238E27FC236}">
                <a16:creationId xmlns:a16="http://schemas.microsoft.com/office/drawing/2014/main" id="{9596B267-7C15-8B2E-1ECF-688374519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615F9522-0786-0F3B-6FA9-1DEAB3433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0C67D7AA-44AE-7A67-5C85-C3C2EDF12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573D338D-1FBF-3874-2152-65D46A0F7A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3A690D9B-6330-565E-357F-C068B6F15B0A}"/>
              </a:ext>
            </a:extLst>
          </p:cNvPr>
          <p:cNvSpPr>
            <a:spLocks noGrp="1"/>
          </p:cNvSpPr>
          <p:nvPr>
            <p:ph sz="half" idx="2"/>
          </p:nvPr>
        </p:nvSpPr>
        <p:spPr>
          <a:xfrm>
            <a:off x="6194738" y="2312988"/>
            <a:ext cx="5197655" cy="3651250"/>
          </a:xfrm>
        </p:spPr>
        <p:txBody>
          <a:bodyPr vert="horz" lIns="109728" tIns="109728" rIns="109728" bIns="91440" rtlCol="0">
            <a:normAutofit lnSpcReduction="10000"/>
          </a:bodyPr>
          <a:lstStyle/>
          <a:p>
            <a:pPr marL="285750" indent="-285750">
              <a:lnSpc>
                <a:spcPct val="130000"/>
              </a:lnSpc>
              <a:buFont typeface="Arial" panose="020B0604020202020204" pitchFamily="34" charset="0"/>
              <a:buChar char="•"/>
            </a:pPr>
            <a:r>
              <a:rPr lang="en-US" sz="1400" dirty="0"/>
              <a:t>Top Earners: Orthopedics (173M) and General Practice (164M) are the clear leaders, generating the vast majority of the hospital's revenue.</a:t>
            </a:r>
          </a:p>
          <a:p>
            <a:pPr marL="285750" indent="-285750">
              <a:lnSpc>
                <a:spcPct val="130000"/>
              </a:lnSpc>
              <a:buFont typeface="Arial" panose="020B0604020202020204" pitchFamily="34" charset="0"/>
              <a:buChar char="•"/>
            </a:pPr>
            <a:r>
              <a:rPr lang="en-US" sz="1400" dirty="0"/>
              <a:t>Second Tier: Neurology (73M) and Cardiology (68M) also represent significant sources of income.</a:t>
            </a:r>
          </a:p>
          <a:p>
            <a:pPr marL="285750" indent="-285750">
              <a:lnSpc>
                <a:spcPct val="130000"/>
              </a:lnSpc>
              <a:buFont typeface="Arial" panose="020B0604020202020204" pitchFamily="34" charset="0"/>
              <a:buChar char="•"/>
            </a:pPr>
            <a:r>
              <a:rPr lang="en-US" sz="1400" dirty="0"/>
              <a:t>Significant Drop-off: There is a sharp decline in revenue after the top four departments.</a:t>
            </a:r>
          </a:p>
          <a:p>
            <a:pPr marL="285750" indent="-285750">
              <a:lnSpc>
                <a:spcPct val="130000"/>
              </a:lnSpc>
              <a:buFont typeface="Arial" panose="020B0604020202020204" pitchFamily="34" charset="0"/>
              <a:buChar char="•"/>
            </a:pPr>
            <a:r>
              <a:rPr lang="en-US" sz="1400" dirty="0"/>
              <a:t>Lowest Earner: The Renal department contributes the least, with 5M in revenue.</a:t>
            </a:r>
          </a:p>
        </p:txBody>
      </p:sp>
      <p:pic>
        <p:nvPicPr>
          <p:cNvPr id="5" name="Picture 4">
            <a:extLst>
              <a:ext uri="{FF2B5EF4-FFF2-40B4-BE49-F238E27FC236}">
                <a16:creationId xmlns:a16="http://schemas.microsoft.com/office/drawing/2014/main" id="{FE6CA172-3274-2188-AB43-2CA492039430}"/>
              </a:ext>
            </a:extLst>
          </p:cNvPr>
          <p:cNvPicPr>
            <a:picLocks noChangeAspect="1"/>
          </p:cNvPicPr>
          <p:nvPr/>
        </p:nvPicPr>
        <p:blipFill>
          <a:blip r:embed="rId2"/>
          <a:stretch>
            <a:fillRect/>
          </a:stretch>
        </p:blipFill>
        <p:spPr>
          <a:xfrm>
            <a:off x="682714" y="2312988"/>
            <a:ext cx="5197655" cy="3389136"/>
          </a:xfrm>
          <a:prstGeom prst="rect">
            <a:avLst/>
          </a:prstGeom>
        </p:spPr>
      </p:pic>
    </p:spTree>
    <p:extLst>
      <p:ext uri="{BB962C8B-B14F-4D97-AF65-F5344CB8AC3E}">
        <p14:creationId xmlns:p14="http://schemas.microsoft.com/office/powerpoint/2010/main" val="3895900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DADDFC1-8457-13BB-2F22-D5E9497A3ACF}"/>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55AAE428-3CF0-AE8B-2B08-0E6529BDDC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94F3B757-7596-F1FF-0D40-4272FC041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2C7F43DC-F285-A05B-1141-CCA1A545CC11}"/>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Discount Program Reach</a:t>
            </a:r>
          </a:p>
        </p:txBody>
      </p:sp>
      <p:grpSp>
        <p:nvGrpSpPr>
          <p:cNvPr id="15" name="Group 14">
            <a:extLst>
              <a:ext uri="{FF2B5EF4-FFF2-40B4-BE49-F238E27FC236}">
                <a16:creationId xmlns:a16="http://schemas.microsoft.com/office/drawing/2014/main" id="{9BE9A1FD-3470-24C0-FD94-F9F1B0987D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CDADB36A-4B71-63F5-3197-C9203BA48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49FD6C0-6DF3-0914-2F54-A579C2D40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7E782535-DAC6-8C8E-7FBF-2D22CF62F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B32573E6-4514-B2F0-108D-6DC5B887D194}"/>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Nearly 90% of all patients (8.23K) are eligible for a discount.</a:t>
            </a:r>
          </a:p>
          <a:p>
            <a:pPr marL="285750" indent="-285750">
              <a:lnSpc>
                <a:spcPct val="130000"/>
              </a:lnSpc>
              <a:buFont typeface="Arial" panose="020B0604020202020204" pitchFamily="34" charset="0"/>
              <a:buChar char="•"/>
            </a:pPr>
            <a:r>
              <a:rPr lang="en-US" sz="1400" dirty="0"/>
              <a:t>A small fraction, 10.71%, do not qualify.</a:t>
            </a:r>
          </a:p>
          <a:p>
            <a:pPr marL="285750" indent="-285750">
              <a:lnSpc>
                <a:spcPct val="130000"/>
              </a:lnSpc>
              <a:buFont typeface="Arial" panose="020B0604020202020204" pitchFamily="34" charset="0"/>
              <a:buChar char="•"/>
            </a:pPr>
            <a:r>
              <a:rPr lang="en-US" sz="1400" dirty="0"/>
              <a:t>This wide eligibility indicates the program's broad reach across the patient population.</a:t>
            </a:r>
          </a:p>
        </p:txBody>
      </p:sp>
      <p:pic>
        <p:nvPicPr>
          <p:cNvPr id="5" name="Picture 4">
            <a:extLst>
              <a:ext uri="{FF2B5EF4-FFF2-40B4-BE49-F238E27FC236}">
                <a16:creationId xmlns:a16="http://schemas.microsoft.com/office/drawing/2014/main" id="{B84D7E90-8F81-C9B1-FE2F-AA415DE77B76}"/>
              </a:ext>
            </a:extLst>
          </p:cNvPr>
          <p:cNvPicPr>
            <a:picLocks noChangeAspect="1"/>
          </p:cNvPicPr>
          <p:nvPr/>
        </p:nvPicPr>
        <p:blipFill>
          <a:blip r:embed="rId2"/>
          <a:stretch>
            <a:fillRect/>
          </a:stretch>
        </p:blipFill>
        <p:spPr>
          <a:xfrm>
            <a:off x="158202" y="945423"/>
            <a:ext cx="5992061" cy="4534533"/>
          </a:xfrm>
          <a:prstGeom prst="rect">
            <a:avLst/>
          </a:prstGeom>
        </p:spPr>
      </p:pic>
    </p:spTree>
    <p:extLst>
      <p:ext uri="{BB962C8B-B14F-4D97-AF65-F5344CB8AC3E}">
        <p14:creationId xmlns:p14="http://schemas.microsoft.com/office/powerpoint/2010/main" val="489354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5AA63A2-E4CE-3586-865A-58BA83C4AA89}"/>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6FFC8C2-0CD7-C70B-949B-30453BA3896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80D79ADB-57D4-7DAA-2E20-B59CF0FFB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FF46A10-AFD4-167F-5B97-8760B163D44D}"/>
              </a:ext>
            </a:extLst>
          </p:cNvPr>
          <p:cNvSpPr>
            <a:spLocks noGrp="1"/>
          </p:cNvSpPr>
          <p:nvPr>
            <p:ph type="title"/>
          </p:nvPr>
        </p:nvSpPr>
        <p:spPr>
          <a:xfrm>
            <a:off x="6194738" y="442913"/>
            <a:ext cx="5197655" cy="1639888"/>
          </a:xfrm>
        </p:spPr>
        <p:txBody>
          <a:bodyPr vert="horz" lIns="109728" tIns="109728" rIns="109728" bIns="91440" rtlCol="0" anchor="b">
            <a:normAutofit/>
          </a:bodyPr>
          <a:lstStyle/>
          <a:p>
            <a:r>
              <a:rPr lang="en-US" dirty="0"/>
              <a:t>Appointment Fee Structure</a:t>
            </a:r>
          </a:p>
        </p:txBody>
      </p:sp>
      <p:grpSp>
        <p:nvGrpSpPr>
          <p:cNvPr id="15" name="Group 14">
            <a:extLst>
              <a:ext uri="{FF2B5EF4-FFF2-40B4-BE49-F238E27FC236}">
                <a16:creationId xmlns:a16="http://schemas.microsoft.com/office/drawing/2014/main" id="{50675B05-6E1B-4A31-5D05-6974F816F2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16" name="Freeform: Shape 15">
              <a:extLst>
                <a:ext uri="{FF2B5EF4-FFF2-40B4-BE49-F238E27FC236}">
                  <a16:creationId xmlns:a16="http://schemas.microsoft.com/office/drawing/2014/main" id="{BA40ABCD-9FC4-82C4-BB3E-C6097D8C44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3F752003-9B86-9E69-435F-19897AFFE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F8739AFC-024C-885C-77B4-4B2B23553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4" name="Content Placeholder 3">
            <a:extLst>
              <a:ext uri="{FF2B5EF4-FFF2-40B4-BE49-F238E27FC236}">
                <a16:creationId xmlns:a16="http://schemas.microsoft.com/office/drawing/2014/main" id="{D7847F72-ED6D-D6CE-9311-05AF5814CE32}"/>
              </a:ext>
            </a:extLst>
          </p:cNvPr>
          <p:cNvSpPr>
            <a:spLocks noGrp="1"/>
          </p:cNvSpPr>
          <p:nvPr>
            <p:ph sz="half" idx="2"/>
          </p:nvPr>
        </p:nvSpPr>
        <p:spPr>
          <a:xfrm>
            <a:off x="6194738" y="2312988"/>
            <a:ext cx="5197655" cy="3651250"/>
          </a:xfrm>
        </p:spPr>
        <p:txBody>
          <a:bodyPr vert="horz" lIns="109728" tIns="109728" rIns="109728" bIns="91440" rtlCol="0">
            <a:normAutofit/>
          </a:bodyPr>
          <a:lstStyle/>
          <a:p>
            <a:pPr marL="285750" indent="-285750">
              <a:lnSpc>
                <a:spcPct val="130000"/>
              </a:lnSpc>
              <a:buFont typeface="Arial" panose="020B0604020202020204" pitchFamily="34" charset="0"/>
              <a:buChar char="•"/>
            </a:pPr>
            <a:r>
              <a:rPr lang="en-US" sz="1400" dirty="0"/>
              <a:t>Appointment fees vary significantly by specialty.</a:t>
            </a:r>
          </a:p>
          <a:p>
            <a:pPr marL="285750" indent="-285750">
              <a:lnSpc>
                <a:spcPct val="130000"/>
              </a:lnSpc>
              <a:buFont typeface="Arial" panose="020B0604020202020204" pitchFamily="34" charset="0"/>
              <a:buChar char="•"/>
            </a:pPr>
            <a:r>
              <a:rPr lang="en-US" sz="1400" dirty="0"/>
              <a:t>Neurology (1.5K) and Cardiology (1.2K) charge the highest fees.</a:t>
            </a:r>
          </a:p>
          <a:p>
            <a:pPr marL="285750" indent="-285750">
              <a:lnSpc>
                <a:spcPct val="130000"/>
              </a:lnSpc>
              <a:buFont typeface="Arial" panose="020B0604020202020204" pitchFamily="34" charset="0"/>
              <a:buChar char="•"/>
            </a:pPr>
            <a:r>
              <a:rPr lang="en-US" sz="1400" dirty="0"/>
              <a:t>The lowest fees are in General Practice (0.5K) and Renal (0.5K).</a:t>
            </a:r>
          </a:p>
          <a:p>
            <a:pPr marL="285750" indent="-285750">
              <a:lnSpc>
                <a:spcPct val="130000"/>
              </a:lnSpc>
              <a:buFont typeface="Arial" panose="020B0604020202020204" pitchFamily="34" charset="0"/>
              <a:buChar char="•"/>
            </a:pPr>
            <a:r>
              <a:rPr lang="en-US" sz="1400" dirty="0"/>
              <a:t>The fee for Neurology is 3x higher than the fee for General Practice.</a:t>
            </a:r>
          </a:p>
        </p:txBody>
      </p:sp>
      <p:pic>
        <p:nvPicPr>
          <p:cNvPr id="5" name="Picture 4">
            <a:extLst>
              <a:ext uri="{FF2B5EF4-FFF2-40B4-BE49-F238E27FC236}">
                <a16:creationId xmlns:a16="http://schemas.microsoft.com/office/drawing/2014/main" id="{E288E08D-1741-3E0D-C953-835A43937684}"/>
              </a:ext>
            </a:extLst>
          </p:cNvPr>
          <p:cNvPicPr>
            <a:picLocks noChangeAspect="1"/>
          </p:cNvPicPr>
          <p:nvPr/>
        </p:nvPicPr>
        <p:blipFill>
          <a:blip r:embed="rId2"/>
          <a:stretch>
            <a:fillRect/>
          </a:stretch>
        </p:blipFill>
        <p:spPr>
          <a:xfrm>
            <a:off x="409025" y="1709856"/>
            <a:ext cx="5449164" cy="3715268"/>
          </a:xfrm>
          <a:prstGeom prst="rect">
            <a:avLst/>
          </a:prstGeom>
        </p:spPr>
      </p:pic>
    </p:spTree>
    <p:extLst>
      <p:ext uri="{BB962C8B-B14F-4D97-AF65-F5344CB8AC3E}">
        <p14:creationId xmlns:p14="http://schemas.microsoft.com/office/powerpoint/2010/main" val="1366923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D3F6268-8EC9-475B-BAAA-7A2872A31FAA}"/>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EB583A9-02EC-855F-588B-CADEA1C2B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7" name="Group 16">
            <a:extLst>
              <a:ext uri="{FF2B5EF4-FFF2-40B4-BE49-F238E27FC236}">
                <a16:creationId xmlns:a16="http://schemas.microsoft.com/office/drawing/2014/main" id="{43B3A803-71A7-0AC6-01BE-AE60125FCF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8" name="Freeform: Shape 10">
              <a:extLst>
                <a:ext uri="{FF2B5EF4-FFF2-40B4-BE49-F238E27FC236}">
                  <a16:creationId xmlns:a16="http://schemas.microsoft.com/office/drawing/2014/main" id="{C5A3FD9A-5778-6503-6877-1E8509020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1">
              <a:extLst>
                <a:ext uri="{FF2B5EF4-FFF2-40B4-BE49-F238E27FC236}">
                  <a16:creationId xmlns:a16="http://schemas.microsoft.com/office/drawing/2014/main" id="{2BAD821B-F53B-8E9E-2809-41C440CD1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2">
              <a:extLst>
                <a:ext uri="{FF2B5EF4-FFF2-40B4-BE49-F238E27FC236}">
                  <a16:creationId xmlns:a16="http://schemas.microsoft.com/office/drawing/2014/main" id="{0BD74DB8-AD49-F740-0F14-39ECA088F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13">
              <a:extLst>
                <a:ext uri="{FF2B5EF4-FFF2-40B4-BE49-F238E27FC236}">
                  <a16:creationId xmlns:a16="http://schemas.microsoft.com/office/drawing/2014/main" id="{3FC02447-88AF-48EA-2ED3-AE11364E0B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9B7462CC-C8B6-09C8-2FB1-0442CAE1FDFF}"/>
              </a:ext>
            </a:extLst>
          </p:cNvPr>
          <p:cNvSpPr>
            <a:spLocks noGrp="1"/>
          </p:cNvSpPr>
          <p:nvPr>
            <p:ph type="title"/>
          </p:nvPr>
        </p:nvSpPr>
        <p:spPr>
          <a:xfrm>
            <a:off x="2543873" y="76260"/>
            <a:ext cx="6857365" cy="648468"/>
          </a:xfrm>
        </p:spPr>
        <p:txBody>
          <a:bodyPr anchor="b">
            <a:normAutofit fontScale="90000"/>
          </a:bodyPr>
          <a:lstStyle/>
          <a:p>
            <a:pPr algn="ctr"/>
            <a:r>
              <a:rPr lang="en-US" dirty="0"/>
              <a:t>Main Dashboard</a:t>
            </a:r>
          </a:p>
        </p:txBody>
      </p:sp>
      <p:pic>
        <p:nvPicPr>
          <p:cNvPr id="8" name="Picture 7">
            <a:extLst>
              <a:ext uri="{FF2B5EF4-FFF2-40B4-BE49-F238E27FC236}">
                <a16:creationId xmlns:a16="http://schemas.microsoft.com/office/drawing/2014/main" id="{9861C978-3CF8-74C0-F92B-7B187ECF38BD}"/>
              </a:ext>
            </a:extLst>
          </p:cNvPr>
          <p:cNvPicPr>
            <a:picLocks noChangeAspect="1"/>
          </p:cNvPicPr>
          <p:nvPr/>
        </p:nvPicPr>
        <p:blipFill>
          <a:blip r:embed="rId2"/>
          <a:stretch>
            <a:fillRect/>
          </a:stretch>
        </p:blipFill>
        <p:spPr>
          <a:xfrm>
            <a:off x="693336" y="607123"/>
            <a:ext cx="11033090" cy="6094230"/>
          </a:xfrm>
          <a:prstGeom prst="rect">
            <a:avLst/>
          </a:prstGeom>
        </p:spPr>
      </p:pic>
    </p:spTree>
    <p:extLst>
      <p:ext uri="{BB962C8B-B14F-4D97-AF65-F5344CB8AC3E}">
        <p14:creationId xmlns:p14="http://schemas.microsoft.com/office/powerpoint/2010/main" val="3226841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7ED4F5E-DFB6-D9D1-7468-3831E9D098A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FAF9357-6B79-8B6E-72B0-69B6479FA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7" name="Group 16">
            <a:extLst>
              <a:ext uri="{FF2B5EF4-FFF2-40B4-BE49-F238E27FC236}">
                <a16:creationId xmlns:a16="http://schemas.microsoft.com/office/drawing/2014/main" id="{3E039EB4-75FC-B43B-3503-B81A8826D7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8" name="Freeform: Shape 10">
              <a:extLst>
                <a:ext uri="{FF2B5EF4-FFF2-40B4-BE49-F238E27FC236}">
                  <a16:creationId xmlns:a16="http://schemas.microsoft.com/office/drawing/2014/main" id="{127E22F5-4DB6-852B-A4EF-B000A8175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1">
              <a:extLst>
                <a:ext uri="{FF2B5EF4-FFF2-40B4-BE49-F238E27FC236}">
                  <a16:creationId xmlns:a16="http://schemas.microsoft.com/office/drawing/2014/main" id="{0C558689-AE7E-46D4-B7EE-015AE1B78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2">
              <a:extLst>
                <a:ext uri="{FF2B5EF4-FFF2-40B4-BE49-F238E27FC236}">
                  <a16:creationId xmlns:a16="http://schemas.microsoft.com/office/drawing/2014/main" id="{EB117AC1-566C-36E2-DBCA-83B634E43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13">
              <a:extLst>
                <a:ext uri="{FF2B5EF4-FFF2-40B4-BE49-F238E27FC236}">
                  <a16:creationId xmlns:a16="http://schemas.microsoft.com/office/drawing/2014/main" id="{704C9762-35F4-FBC7-EBBF-128918F29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296CAF93-D60D-44BC-9F83-5B6067E4E51C}"/>
              </a:ext>
            </a:extLst>
          </p:cNvPr>
          <p:cNvSpPr>
            <a:spLocks noGrp="1"/>
          </p:cNvSpPr>
          <p:nvPr>
            <p:ph type="title"/>
          </p:nvPr>
        </p:nvSpPr>
        <p:spPr>
          <a:xfrm>
            <a:off x="2543873" y="76260"/>
            <a:ext cx="6857365" cy="648468"/>
          </a:xfrm>
        </p:spPr>
        <p:txBody>
          <a:bodyPr anchor="b">
            <a:normAutofit fontScale="90000"/>
          </a:bodyPr>
          <a:lstStyle/>
          <a:p>
            <a:pPr algn="ctr"/>
            <a:r>
              <a:rPr lang="en-US" dirty="0"/>
              <a:t>Doctor Dashboard</a:t>
            </a:r>
          </a:p>
        </p:txBody>
      </p:sp>
      <p:pic>
        <p:nvPicPr>
          <p:cNvPr id="4" name="Picture 3">
            <a:extLst>
              <a:ext uri="{FF2B5EF4-FFF2-40B4-BE49-F238E27FC236}">
                <a16:creationId xmlns:a16="http://schemas.microsoft.com/office/drawing/2014/main" id="{5493E938-5865-5324-53A4-487A0239EE6F}"/>
              </a:ext>
            </a:extLst>
          </p:cNvPr>
          <p:cNvPicPr>
            <a:picLocks noChangeAspect="1"/>
          </p:cNvPicPr>
          <p:nvPr/>
        </p:nvPicPr>
        <p:blipFill>
          <a:blip r:embed="rId2"/>
          <a:stretch>
            <a:fillRect/>
          </a:stretch>
        </p:blipFill>
        <p:spPr>
          <a:xfrm>
            <a:off x="664810" y="611121"/>
            <a:ext cx="10862070" cy="6170619"/>
          </a:xfrm>
          <a:prstGeom prst="rect">
            <a:avLst/>
          </a:prstGeom>
        </p:spPr>
      </p:pic>
    </p:spTree>
    <p:extLst>
      <p:ext uri="{BB962C8B-B14F-4D97-AF65-F5344CB8AC3E}">
        <p14:creationId xmlns:p14="http://schemas.microsoft.com/office/powerpoint/2010/main" val="1519002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ABAC2F9-8AD0-FA13-72D7-87C0BADABEFD}"/>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28C838A-8712-F28A-AC25-CE9B71723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7" name="Group 16">
            <a:extLst>
              <a:ext uri="{FF2B5EF4-FFF2-40B4-BE49-F238E27FC236}">
                <a16:creationId xmlns:a16="http://schemas.microsoft.com/office/drawing/2014/main" id="{AF5483FB-A90C-F754-DAB0-FF1E8F2B5B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8" name="Freeform: Shape 10">
              <a:extLst>
                <a:ext uri="{FF2B5EF4-FFF2-40B4-BE49-F238E27FC236}">
                  <a16:creationId xmlns:a16="http://schemas.microsoft.com/office/drawing/2014/main" id="{07770CF0-9859-EB14-199A-92508971E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1">
              <a:extLst>
                <a:ext uri="{FF2B5EF4-FFF2-40B4-BE49-F238E27FC236}">
                  <a16:creationId xmlns:a16="http://schemas.microsoft.com/office/drawing/2014/main" id="{A622AB9D-83EC-D857-1ADA-D7EAECD57E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2">
              <a:extLst>
                <a:ext uri="{FF2B5EF4-FFF2-40B4-BE49-F238E27FC236}">
                  <a16:creationId xmlns:a16="http://schemas.microsoft.com/office/drawing/2014/main" id="{65DFF14A-711B-184D-157F-212C86E49A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13">
              <a:extLst>
                <a:ext uri="{FF2B5EF4-FFF2-40B4-BE49-F238E27FC236}">
                  <a16:creationId xmlns:a16="http://schemas.microsoft.com/office/drawing/2014/main" id="{5C45F2AE-EFC3-D6AC-B2F9-CC6529D09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8EACFB67-DC60-6036-FFFF-CCCF17D33893}"/>
              </a:ext>
            </a:extLst>
          </p:cNvPr>
          <p:cNvSpPr>
            <a:spLocks noGrp="1"/>
          </p:cNvSpPr>
          <p:nvPr>
            <p:ph type="title"/>
          </p:nvPr>
        </p:nvSpPr>
        <p:spPr>
          <a:xfrm>
            <a:off x="2543873" y="76260"/>
            <a:ext cx="6857365" cy="648468"/>
          </a:xfrm>
        </p:spPr>
        <p:txBody>
          <a:bodyPr anchor="b">
            <a:normAutofit fontScale="90000"/>
          </a:bodyPr>
          <a:lstStyle/>
          <a:p>
            <a:pPr algn="ctr"/>
            <a:r>
              <a:rPr lang="en-US" dirty="0"/>
              <a:t>Patient Dashboard</a:t>
            </a:r>
          </a:p>
        </p:txBody>
      </p:sp>
      <p:pic>
        <p:nvPicPr>
          <p:cNvPr id="4" name="Picture 3">
            <a:extLst>
              <a:ext uri="{FF2B5EF4-FFF2-40B4-BE49-F238E27FC236}">
                <a16:creationId xmlns:a16="http://schemas.microsoft.com/office/drawing/2014/main" id="{C0D8C1C1-398F-199E-5FC6-1AC1B9C563E2}"/>
              </a:ext>
            </a:extLst>
          </p:cNvPr>
          <p:cNvPicPr>
            <a:picLocks noChangeAspect="1"/>
          </p:cNvPicPr>
          <p:nvPr/>
        </p:nvPicPr>
        <p:blipFill>
          <a:blip r:embed="rId2"/>
          <a:stretch>
            <a:fillRect/>
          </a:stretch>
        </p:blipFill>
        <p:spPr>
          <a:xfrm>
            <a:off x="621150" y="623071"/>
            <a:ext cx="10949700" cy="6158669"/>
          </a:xfrm>
          <a:prstGeom prst="rect">
            <a:avLst/>
          </a:prstGeom>
        </p:spPr>
      </p:pic>
    </p:spTree>
    <p:extLst>
      <p:ext uri="{BB962C8B-B14F-4D97-AF65-F5344CB8AC3E}">
        <p14:creationId xmlns:p14="http://schemas.microsoft.com/office/powerpoint/2010/main" val="1891637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05A9AB6-40B9-FA73-689A-91E99904F85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651CF94-06D3-4319-1B59-D1CB95265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7" name="Group 16">
            <a:extLst>
              <a:ext uri="{FF2B5EF4-FFF2-40B4-BE49-F238E27FC236}">
                <a16:creationId xmlns:a16="http://schemas.microsoft.com/office/drawing/2014/main" id="{B3865B89-5E17-B952-E078-58528A135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8" name="Freeform: Shape 10">
              <a:extLst>
                <a:ext uri="{FF2B5EF4-FFF2-40B4-BE49-F238E27FC236}">
                  <a16:creationId xmlns:a16="http://schemas.microsoft.com/office/drawing/2014/main" id="{AD0DDFCB-58EB-A8E1-6FAD-725CB463E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1">
              <a:extLst>
                <a:ext uri="{FF2B5EF4-FFF2-40B4-BE49-F238E27FC236}">
                  <a16:creationId xmlns:a16="http://schemas.microsoft.com/office/drawing/2014/main" id="{D7D8995D-E31C-6E98-6518-014F05C69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2">
              <a:extLst>
                <a:ext uri="{FF2B5EF4-FFF2-40B4-BE49-F238E27FC236}">
                  <a16:creationId xmlns:a16="http://schemas.microsoft.com/office/drawing/2014/main" id="{1A9974A8-D6F3-21FB-95A2-EE9C3C65F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13">
              <a:extLst>
                <a:ext uri="{FF2B5EF4-FFF2-40B4-BE49-F238E27FC236}">
                  <a16:creationId xmlns:a16="http://schemas.microsoft.com/office/drawing/2014/main" id="{7245B079-4212-4DF8-DC1F-A4E3809785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B0F3DC2F-EACC-94C0-7D7F-3775C9C94D20}"/>
              </a:ext>
            </a:extLst>
          </p:cNvPr>
          <p:cNvSpPr>
            <a:spLocks noGrp="1"/>
          </p:cNvSpPr>
          <p:nvPr>
            <p:ph type="title"/>
          </p:nvPr>
        </p:nvSpPr>
        <p:spPr>
          <a:xfrm>
            <a:off x="2543871" y="363276"/>
            <a:ext cx="6857365" cy="648468"/>
          </a:xfrm>
        </p:spPr>
        <p:txBody>
          <a:bodyPr anchor="b">
            <a:normAutofit fontScale="90000"/>
          </a:bodyPr>
          <a:lstStyle/>
          <a:p>
            <a:pPr algn="ctr"/>
            <a:r>
              <a:rPr lang="en-US" dirty="0"/>
              <a:t>Recommendation</a:t>
            </a:r>
            <a:endParaRPr lang="en-US" dirty="0">
              <a:effectLst/>
            </a:endParaRPr>
          </a:p>
        </p:txBody>
      </p:sp>
      <p:sp>
        <p:nvSpPr>
          <p:cNvPr id="3" name="Content Placeholder 2">
            <a:extLst>
              <a:ext uri="{FF2B5EF4-FFF2-40B4-BE49-F238E27FC236}">
                <a16:creationId xmlns:a16="http://schemas.microsoft.com/office/drawing/2014/main" id="{B6690175-9BF4-F52E-A68B-42696106451D}"/>
              </a:ext>
            </a:extLst>
          </p:cNvPr>
          <p:cNvSpPr>
            <a:spLocks noGrp="1"/>
          </p:cNvSpPr>
          <p:nvPr>
            <p:ph idx="1"/>
          </p:nvPr>
        </p:nvSpPr>
        <p:spPr>
          <a:xfrm>
            <a:off x="812411" y="1001659"/>
            <a:ext cx="10320287" cy="3651250"/>
          </a:xfrm>
        </p:spPr>
        <p:txBody>
          <a:bodyPr>
            <a:noAutofit/>
          </a:bodyPr>
          <a:lstStyle/>
          <a:p>
            <a:pPr marL="285750" indent="-285750">
              <a:buFont typeface="Arial" panose="020B0604020202020204" pitchFamily="34" charset="0"/>
              <a:buChar char="•"/>
            </a:pPr>
            <a:r>
              <a:rPr lang="en-US" sz="1600" b="1" dirty="0"/>
              <a:t>Address General Practice Workload</a:t>
            </a:r>
            <a:r>
              <a:rPr lang="en-US" sz="1600" dirty="0"/>
              <a:t>: Allocate additional resources to the high-traffic General Practice department. Hiring at least two new doctors is recommended to manage the high patient load effectively.</a:t>
            </a:r>
          </a:p>
          <a:p>
            <a:pPr marL="285750" indent="-285750">
              <a:buFont typeface="Arial" panose="020B0604020202020204" pitchFamily="34" charset="0"/>
              <a:buChar char="•"/>
            </a:pPr>
            <a:r>
              <a:rPr lang="en-US" sz="1600" b="1" dirty="0"/>
              <a:t>Adopt Seasonal Resource Planning</a:t>
            </a:r>
            <a:r>
              <a:rPr lang="en-US" sz="1600" dirty="0"/>
              <a:t>: Adjust staffing to match seasonal patient volume. Increase resources during the peak period (April-October) and optimize schedules during lower-volume months (Jan-Mar, Nov-Dec).</a:t>
            </a:r>
          </a:p>
          <a:p>
            <a:pPr marL="285750" indent="-285750">
              <a:buFont typeface="Arial" panose="020B0604020202020204" pitchFamily="34" charset="0"/>
              <a:buChar char="•"/>
            </a:pPr>
            <a:r>
              <a:rPr lang="en-US" sz="1600" b="1" dirty="0"/>
              <a:t>Enhance Data-Driven Decisions</a:t>
            </a:r>
            <a:r>
              <a:rPr lang="en-US" sz="1600" dirty="0"/>
              <a:t>: Utilize demographic insights and KPIs (revenue, satisfaction, wait times) to tailor services, optimize departmental performance, and inform strategic planning.</a:t>
            </a:r>
          </a:p>
          <a:p>
            <a:pPr marL="285750" indent="-285750">
              <a:buFont typeface="Arial" panose="020B0604020202020204" pitchFamily="34" charset="0"/>
              <a:buChar char="•"/>
            </a:pPr>
            <a:r>
              <a:rPr lang="en-US" sz="1600" b="1" dirty="0"/>
              <a:t>Implement Targeted Discount Programs</a:t>
            </a:r>
            <a:r>
              <a:rPr lang="en-US" sz="1600" dirty="0"/>
              <a:t>: Encourage loyalty and high-value spending by offering discounts to key revenue-driving groups (e.g., teenagers) or for total bills exceeding a specific threshold (e.g., ₹10,000).</a:t>
            </a:r>
          </a:p>
          <a:p>
            <a:pPr marL="285750" indent="-285750">
              <a:buFont typeface="Arial" panose="020B0604020202020204" pitchFamily="34" charset="0"/>
              <a:buChar char="•"/>
            </a:pPr>
            <a:r>
              <a:rPr lang="en-US" sz="1600" b="1" dirty="0"/>
              <a:t>Maximize Revenue Opportunities</a:t>
            </a:r>
            <a:r>
              <a:rPr lang="en-US" sz="1600" dirty="0"/>
              <a:t>: Analyze the contributing factors for underperforming departments, such as Renal, and implement targeted improvement plans to boost their financial contribution.</a:t>
            </a:r>
          </a:p>
        </p:txBody>
      </p:sp>
    </p:spTree>
    <p:extLst>
      <p:ext uri="{BB962C8B-B14F-4D97-AF65-F5344CB8AC3E}">
        <p14:creationId xmlns:p14="http://schemas.microsoft.com/office/powerpoint/2010/main" val="595782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713EB85-2978-8A50-1A89-67D5EBE5A7B4}"/>
            </a:ext>
          </a:extLst>
        </p:cNvPr>
        <p:cNvGrpSpPr/>
        <p:nvPr/>
      </p:nvGrpSpPr>
      <p:grpSpPr>
        <a:xfrm>
          <a:off x="0" y="0"/>
          <a:ext cx="0" cy="0"/>
          <a:chOff x="0" y="0"/>
          <a:chExt cx="0" cy="0"/>
        </a:xfrm>
      </p:grpSpPr>
      <p:sp>
        <p:nvSpPr>
          <p:cNvPr id="50" name="Freeform: Shape 25">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27">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2" name="Freeform: Shape 29">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3" name="Freeform: Shape 31">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4" name="Freeform: Shape 33">
            <a:extLst>
              <a:ext uri="{FF2B5EF4-FFF2-40B4-BE49-F238E27FC236}">
                <a16:creationId xmlns:a16="http://schemas.microsoft.com/office/drawing/2014/main" id="{0CA184B6-3482-4F43-87F0-BC765DCFD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Freeform: Shape 35">
            <a:extLst>
              <a:ext uri="{FF2B5EF4-FFF2-40B4-BE49-F238E27FC236}">
                <a16:creationId xmlns:a16="http://schemas.microsoft.com/office/drawing/2014/main" id="{6C869923-8380-4244-9548-802C33063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6" name="Freeform: Shape 37">
            <a:extLst>
              <a:ext uri="{FF2B5EF4-FFF2-40B4-BE49-F238E27FC236}">
                <a16:creationId xmlns:a16="http://schemas.microsoft.com/office/drawing/2014/main" id="{C06255F2-BC67-4DDE-B34E-AC4BA2183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7" name="Freeform: Shape 39">
            <a:extLst>
              <a:ext uri="{FF2B5EF4-FFF2-40B4-BE49-F238E27FC236}">
                <a16:creationId xmlns:a16="http://schemas.microsoft.com/office/drawing/2014/main" id="{55169443-FCCD-4C0A-8C69-18CD3FA09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58" name="Rectangle 57">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8FD3073-4B8D-56E2-740C-B9BBE3C28A0D}"/>
              </a:ext>
            </a:extLst>
          </p:cNvPr>
          <p:cNvSpPr>
            <a:spLocks noGrp="1"/>
          </p:cNvSpPr>
          <p:nvPr>
            <p:ph type="title"/>
          </p:nvPr>
        </p:nvSpPr>
        <p:spPr>
          <a:xfrm>
            <a:off x="6096000" y="793540"/>
            <a:ext cx="5624118" cy="3284538"/>
          </a:xfrm>
        </p:spPr>
        <p:txBody>
          <a:bodyPr vert="horz" lIns="109728" tIns="109728" rIns="109728" bIns="91440" rtlCol="0" anchor="b">
            <a:normAutofit/>
          </a:bodyPr>
          <a:lstStyle/>
          <a:p>
            <a:pPr>
              <a:lnSpc>
                <a:spcPct val="120000"/>
              </a:lnSpc>
            </a:pPr>
            <a:r>
              <a:rPr lang="en-US" sz="5400" dirty="0">
                <a:solidFill>
                  <a:schemeClr val="tx1">
                    <a:lumMod val="85000"/>
                    <a:lumOff val="15000"/>
                  </a:schemeClr>
                </a:solidFill>
              </a:rPr>
              <a:t>THANK YOU</a:t>
            </a:r>
            <a:endParaRPr lang="en-US" sz="5400" dirty="0">
              <a:solidFill>
                <a:schemeClr val="tx1">
                  <a:lumMod val="85000"/>
                  <a:lumOff val="15000"/>
                </a:schemeClr>
              </a:solidFill>
              <a:effectLst/>
            </a:endParaRPr>
          </a:p>
        </p:txBody>
      </p:sp>
      <p:sp>
        <p:nvSpPr>
          <p:cNvPr id="59" name="Freeform: Shape 43">
            <a:extLst>
              <a:ext uri="{FF2B5EF4-FFF2-40B4-BE49-F238E27FC236}">
                <a16:creationId xmlns:a16="http://schemas.microsoft.com/office/drawing/2014/main" id="{96CB0275-66F1-4491-93B8-121D0C717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0" name="Freeform: Shape 45">
            <a:extLst>
              <a:ext uri="{FF2B5EF4-FFF2-40B4-BE49-F238E27FC236}">
                <a16:creationId xmlns:a16="http://schemas.microsoft.com/office/drawing/2014/main" id="{18D32C3D-8F76-4E99-BE56-0836CC38C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493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1" name="Freeform: Shape 47">
            <a:extLst>
              <a:ext uri="{FF2B5EF4-FFF2-40B4-BE49-F238E27FC236}">
                <a16:creationId xmlns:a16="http://schemas.microsoft.com/office/drawing/2014/main" id="{70766076-46F5-42D5-A773-2B3BEF2B8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557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7" name="Picture 6" descr="A blue and white building with a cross on top&#10;&#10;AI-generated content may be incorrect.">
            <a:extLst>
              <a:ext uri="{FF2B5EF4-FFF2-40B4-BE49-F238E27FC236}">
                <a16:creationId xmlns:a16="http://schemas.microsoft.com/office/drawing/2014/main" id="{0773727F-B953-1517-80AA-C63DA2890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571" y="1794394"/>
            <a:ext cx="3217333" cy="3217333"/>
          </a:xfrm>
          <a:prstGeom prst="rect">
            <a:avLst/>
          </a:prstGeom>
        </p:spPr>
      </p:pic>
    </p:spTree>
    <p:extLst>
      <p:ext uri="{BB962C8B-B14F-4D97-AF65-F5344CB8AC3E}">
        <p14:creationId xmlns:p14="http://schemas.microsoft.com/office/powerpoint/2010/main" val="2732502414"/>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emplate>Circuit</Template>
  <TotalTime>284</TotalTime>
  <Words>1451</Words>
  <Application>Microsoft Office PowerPoint</Application>
  <PresentationFormat>Widescreen</PresentationFormat>
  <Paragraphs>113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Meiryo</vt:lpstr>
      <vt:lpstr>Alatsi</vt:lpstr>
      <vt:lpstr>Arial</vt:lpstr>
      <vt:lpstr>Corbel</vt:lpstr>
      <vt:lpstr>Oracle Sans</vt:lpstr>
      <vt:lpstr>SketchLinesVTI</vt:lpstr>
      <vt:lpstr>PowerPoint Presentation</vt:lpstr>
      <vt:lpstr>Table of Contents</vt:lpstr>
      <vt:lpstr>About Columbia Asia Hospital</vt:lpstr>
      <vt:lpstr>Problem Statement</vt:lpstr>
      <vt:lpstr>Data  Overview </vt:lpstr>
      <vt:lpstr>PowerPoint Presentation</vt:lpstr>
      <vt:lpstr>Database Schema</vt:lpstr>
      <vt:lpstr>Methodology</vt:lpstr>
      <vt:lpstr>Data Cleaning Process </vt:lpstr>
      <vt:lpstr>High Satisfaction Across All Ages</vt:lpstr>
      <vt:lpstr>Key Patient Trends</vt:lpstr>
      <vt:lpstr>General Practice Workload</vt:lpstr>
      <vt:lpstr>Patient Demographic Breakdown</vt:lpstr>
      <vt:lpstr>Wait Time Variation</vt:lpstr>
      <vt:lpstr>Profit Margin Consistency</vt:lpstr>
      <vt:lpstr>Patient Gender Distribution</vt:lpstr>
      <vt:lpstr>Revenue Drivers</vt:lpstr>
      <vt:lpstr>Discount Program Reach</vt:lpstr>
      <vt:lpstr>Appointment Fee Structure</vt:lpstr>
      <vt:lpstr>Main Dashboard</vt:lpstr>
      <vt:lpstr>Doctor Dashboard</vt:lpstr>
      <vt:lpstr>Patient Dashboard</vt:lpstr>
      <vt:lpstr>Recommendation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Himanshu Goswami</dc:creator>
  <cp:lastModifiedBy>Himanshu Goswami</cp:lastModifiedBy>
  <cp:revision>5</cp:revision>
  <dcterms:created xsi:type="dcterms:W3CDTF">2025-10-30T12:42:38Z</dcterms:created>
  <dcterms:modified xsi:type="dcterms:W3CDTF">2025-10-30T17:32:40Z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76ce46-357f-46de-88d6-77b9bbb83c46_Enabled">
    <vt:lpwstr>true</vt:lpwstr>
  </property>
  <property fmtid="{D5CDD505-2E9C-101B-9397-08002B2CF9AE}" pid="3" name="MSIP_Label_3c76ce46-357f-46de-88d6-77b9bbb83c46_SetDate">
    <vt:lpwstr>2025-10-30T12:42:56Z</vt:lpwstr>
  </property>
  <property fmtid="{D5CDD505-2E9C-101B-9397-08002B2CF9AE}" pid="4" name="MSIP_Label_3c76ce46-357f-46de-88d6-77b9bbb83c46_Method">
    <vt:lpwstr>Privileged</vt:lpwstr>
  </property>
  <property fmtid="{D5CDD505-2E9C-101B-9397-08002B2CF9AE}" pid="5" name="MSIP_Label_3c76ce46-357f-46de-88d6-77b9bbb83c46_Name">
    <vt:lpwstr>Public</vt:lpwstr>
  </property>
  <property fmtid="{D5CDD505-2E9C-101B-9397-08002B2CF9AE}" pid="6" name="MSIP_Label_3c76ce46-357f-46de-88d6-77b9bbb83c46_SiteId">
    <vt:lpwstr>4e2c6054-71cb-48f1-bd6c-3a9705aca71b</vt:lpwstr>
  </property>
  <property fmtid="{D5CDD505-2E9C-101B-9397-08002B2CF9AE}" pid="7" name="MSIP_Label_3c76ce46-357f-46de-88d6-77b9bbb83c46_ActionId">
    <vt:lpwstr>f39239cf-827f-4667-9efa-6bb12643ab80</vt:lpwstr>
  </property>
  <property fmtid="{D5CDD505-2E9C-101B-9397-08002B2CF9AE}" pid="8" name="MSIP_Label_3c76ce46-357f-46de-88d6-77b9bbb83c46_ContentBits">
    <vt:lpwstr>0</vt:lpwstr>
  </property>
  <property fmtid="{D5CDD505-2E9C-101B-9397-08002B2CF9AE}" pid="9" name="MSIP_Label_3c76ce46-357f-46de-88d6-77b9bbb83c46_Tag">
    <vt:lpwstr>10, 0, 1, 1</vt:lpwstr>
  </property>
</Properties>
</file>